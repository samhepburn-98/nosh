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6"/>
  </p:notesMasterIdLst>
  <p:sldIdLst>
    <p:sldId id="256" r:id="rId2"/>
    <p:sldId id="257" r:id="rId3"/>
    <p:sldId id="258" r:id="rId4"/>
    <p:sldId id="259" r:id="rId5"/>
  </p:sldIdLst>
  <p:sldSz cx="12192000" cy="6858000"/>
  <p:notesSz cx="6858000" cy="12192000"/>
  <p:embeddedFontLst>
    <p:embeddedFont>
      <p:font typeface="Nunito" panose="020F0502020204030204" pitchFamily="2" charset="0"/>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E373E"/>
        </a:solidFill>
        <a:effectLst/>
      </p:bgPr>
    </p:bg>
    <p:spTree>
      <p:nvGrpSpPr>
        <p:cNvPr id="1" name="Shape 15"/>
        <p:cNvGrpSpPr/>
        <p:nvPr/>
      </p:nvGrpSpPr>
      <p:grpSpPr>
        <a:xfrm>
          <a:off x="0" y="0"/>
          <a:ext cx="0" cy="0"/>
          <a:chOff x="0" y="0"/>
          <a:chExt cx="0" cy="0"/>
        </a:xfrm>
      </p:grpSpPr>
      <p:sp>
        <p:nvSpPr>
          <p:cNvPr id="16" name="Google Shape;16;p3"/>
          <p:cNvSpPr/>
          <p:nvPr/>
        </p:nvSpPr>
        <p:spPr>
          <a:xfrm>
            <a:off x="685800" y="424016"/>
            <a:ext cx="64008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2CC9B"/>
              </a:buClr>
              <a:buSzPts val="1100"/>
              <a:buFont typeface="Arial"/>
              <a:buNone/>
            </a:pPr>
            <a:r>
              <a:rPr lang="en-US" sz="1100" b="1" i="0" u="none" strike="noStrike" cap="none">
                <a:solidFill>
                  <a:srgbClr val="62CC9B"/>
                </a:solidFill>
                <a:latin typeface="Arial"/>
                <a:ea typeface="Arial"/>
                <a:cs typeface="Arial"/>
                <a:sym typeface="Arial"/>
              </a:rPr>
              <a:t>CLIENT BACKGROUND  ·  PROJECT NOSH</a:t>
            </a:r>
            <a:endParaRPr sz="1100" b="0" i="0" u="none" strike="noStrike" cap="none">
              <a:solidFill>
                <a:schemeClr val="dk1"/>
              </a:solidFill>
              <a:latin typeface="Calibri"/>
              <a:ea typeface="Calibri"/>
              <a:cs typeface="Calibri"/>
              <a:sym typeface="Calibri"/>
            </a:endParaRPr>
          </a:p>
        </p:txBody>
      </p:sp>
      <p:sp>
        <p:nvSpPr>
          <p:cNvPr id="17" name="Google Shape;17;p3"/>
          <p:cNvSpPr/>
          <p:nvPr/>
        </p:nvSpPr>
        <p:spPr>
          <a:xfrm>
            <a:off x="685800" y="749808"/>
            <a:ext cx="64008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Meet </a:t>
            </a:r>
            <a:r>
              <a:rPr lang="en-US" sz="3800" b="1" i="0" u="none" strike="noStrike" cap="none">
                <a:solidFill>
                  <a:srgbClr val="62CC9B"/>
                </a:solidFill>
                <a:latin typeface="Arial"/>
                <a:ea typeface="Arial"/>
                <a:cs typeface="Arial"/>
                <a:sym typeface="Arial"/>
              </a:rPr>
              <a:t>Nosh</a:t>
            </a:r>
            <a:endParaRPr sz="3800" b="0" i="0" u="none" strike="noStrike" cap="none">
              <a:solidFill>
                <a:schemeClr val="dk1"/>
              </a:solidFill>
              <a:latin typeface="Calibri"/>
              <a:ea typeface="Calibri"/>
              <a:cs typeface="Calibri"/>
              <a:sym typeface="Calibri"/>
            </a:endParaRPr>
          </a:p>
        </p:txBody>
      </p:sp>
      <p:sp>
        <p:nvSpPr>
          <p:cNvPr id="18" name="Google Shape;18;p3"/>
          <p:cNvSpPr/>
          <p:nvPr/>
        </p:nvSpPr>
        <p:spPr>
          <a:xfrm>
            <a:off x="685800" y="1536203"/>
            <a:ext cx="6400800" cy="1143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E8ECEF"/>
              </a:buClr>
              <a:buSzPts val="1350"/>
              <a:buFont typeface="Arial"/>
              <a:buNone/>
            </a:pPr>
            <a:r>
              <a:rPr lang="en-US" sz="1350" b="0" i="0" u="none" strike="noStrike" cap="none">
                <a:solidFill>
                  <a:srgbClr val="E8ECEF"/>
                </a:solidFill>
                <a:latin typeface="Arial"/>
                <a:ea typeface="Arial"/>
                <a:cs typeface="Arial"/>
                <a:sym typeface="Arial"/>
              </a:rPr>
              <a:t>Nosh is a charity that help</a:t>
            </a:r>
            <a:r>
              <a:rPr lang="en-US" sz="1350">
                <a:solidFill>
                  <a:srgbClr val="E8ECEF"/>
                </a:solidFill>
              </a:rPr>
              <a:t>s</a:t>
            </a:r>
            <a:r>
              <a:rPr lang="en-US" sz="1350" b="0" i="0" u="none" strike="noStrike" cap="none">
                <a:solidFill>
                  <a:srgbClr val="E8ECEF"/>
                </a:solidFill>
                <a:latin typeface="Arial"/>
                <a:ea typeface="Arial"/>
                <a:cs typeface="Arial"/>
                <a:sym typeface="Arial"/>
              </a:rPr>
              <a:t> people on low incomes eat well without overspending. They've asked Enablis to prove out a meal-planning web </a:t>
            </a:r>
            <a:r>
              <a:rPr lang="en-US" sz="1350">
                <a:solidFill>
                  <a:srgbClr val="E8ECEF"/>
                </a:solidFill>
              </a:rPr>
              <a:t>site</a:t>
            </a:r>
            <a:r>
              <a:rPr lang="en-US" sz="1350" b="0" i="0" u="none" strike="noStrike" cap="none">
                <a:solidFill>
                  <a:srgbClr val="E8ECEF"/>
                </a:solidFill>
                <a:latin typeface="Arial"/>
                <a:ea typeface="Arial"/>
                <a:cs typeface="Arial"/>
                <a:sym typeface="Arial"/>
              </a:rPr>
              <a:t> that takes the faff out of mealtimes </a:t>
            </a:r>
            <a:r>
              <a:rPr lang="en-US" sz="1350">
                <a:solidFill>
                  <a:srgbClr val="E8ECEF"/>
                </a:solidFill>
              </a:rPr>
              <a:t>-</a:t>
            </a:r>
            <a:r>
              <a:rPr lang="en-US" sz="1350" b="0" i="0" u="none" strike="noStrike" cap="none">
                <a:solidFill>
                  <a:srgbClr val="E8ECEF"/>
                </a:solidFill>
                <a:latin typeface="Arial"/>
                <a:ea typeface="Arial"/>
                <a:cs typeface="Arial"/>
                <a:sym typeface="Arial"/>
              </a:rPr>
              <a:t> tasty and </a:t>
            </a:r>
            <a:r>
              <a:rPr lang="en-US" sz="1350">
                <a:solidFill>
                  <a:srgbClr val="E8ECEF"/>
                </a:solidFill>
              </a:rPr>
              <a:t>nutritional </a:t>
            </a:r>
            <a:r>
              <a:rPr lang="en-US" sz="1350" b="0" i="0" u="none" strike="noStrike" cap="none">
                <a:solidFill>
                  <a:srgbClr val="E8ECEF"/>
                </a:solidFill>
                <a:latin typeface="Arial"/>
                <a:ea typeface="Arial"/>
                <a:cs typeface="Arial"/>
                <a:sym typeface="Arial"/>
              </a:rPr>
              <a:t>recipes, a weekly plan, and a shopping list that respects a tight budget.</a:t>
            </a:r>
            <a:endParaRPr sz="1350" b="0" i="0" u="none" strike="noStrike" cap="none">
              <a:solidFill>
                <a:schemeClr val="dk1"/>
              </a:solidFill>
              <a:latin typeface="Calibri"/>
              <a:ea typeface="Calibri"/>
              <a:cs typeface="Calibri"/>
              <a:sym typeface="Calibri"/>
            </a:endParaRPr>
          </a:p>
        </p:txBody>
      </p:sp>
      <p:sp>
        <p:nvSpPr>
          <p:cNvPr id="19" name="Google Shape;19;p3"/>
          <p:cNvSpPr/>
          <p:nvPr/>
        </p:nvSpPr>
        <p:spPr>
          <a:xfrm>
            <a:off x="685800" y="2722325"/>
            <a:ext cx="6400800" cy="914400"/>
          </a:xfrm>
          <a:prstGeom prst="roundRect">
            <a:avLst>
              <a:gd name="adj" fmla="val 8000"/>
            </a:avLst>
          </a:prstGeom>
          <a:solidFill>
            <a:srgbClr val="3A465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960120" y="2840736"/>
            <a:ext cx="5852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BFC0"/>
              </a:buClr>
              <a:buSzPts val="950"/>
              <a:buFont typeface="Arial"/>
              <a:buNone/>
            </a:pPr>
            <a:r>
              <a:rPr lang="en-US" sz="950" b="1" i="0" u="none" strike="noStrike" cap="none">
                <a:solidFill>
                  <a:srgbClr val="B7BFC0"/>
                </a:solidFill>
                <a:latin typeface="Arial"/>
                <a:ea typeface="Arial"/>
                <a:cs typeface="Arial"/>
                <a:sym typeface="Arial"/>
              </a:rPr>
              <a:t>OUR MISSION</a:t>
            </a:r>
            <a:endParaRPr sz="950" b="0" i="0" u="none" strike="noStrike" cap="none">
              <a:solidFill>
                <a:schemeClr val="dk1"/>
              </a:solidFill>
              <a:latin typeface="Calibri"/>
              <a:ea typeface="Calibri"/>
              <a:cs typeface="Calibri"/>
              <a:sym typeface="Calibri"/>
            </a:endParaRPr>
          </a:p>
        </p:txBody>
      </p:sp>
      <p:sp>
        <p:nvSpPr>
          <p:cNvPr id="21" name="Google Shape;21;p3"/>
          <p:cNvSpPr/>
          <p:nvPr/>
        </p:nvSpPr>
        <p:spPr>
          <a:xfrm>
            <a:off x="960120" y="3060192"/>
            <a:ext cx="58521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2CC9B"/>
              </a:buClr>
              <a:buSzPts val="1450"/>
              <a:buFont typeface="Arial"/>
              <a:buNone/>
            </a:pPr>
            <a:r>
              <a:rPr lang="en-US" sz="1450" b="0" i="1" u="none" strike="noStrike" cap="none">
                <a:solidFill>
                  <a:srgbClr val="62CC9B"/>
                </a:solidFill>
                <a:latin typeface="Arial"/>
                <a:ea typeface="Arial"/>
                <a:cs typeface="Arial"/>
                <a:sym typeface="Arial"/>
              </a:rPr>
              <a:t>“</a:t>
            </a:r>
            <a:r>
              <a:rPr lang="en-US" sz="1650" b="0" i="1" u="none" strike="noStrike" cap="none">
                <a:solidFill>
                  <a:srgbClr val="62CC9B"/>
                </a:solidFill>
                <a:latin typeface="Arial"/>
                <a:ea typeface="Arial"/>
                <a:cs typeface="Arial"/>
                <a:sym typeface="Arial"/>
              </a:rPr>
              <a:t>No one should have to choose between eating well and making ends meet.”</a:t>
            </a:r>
            <a:endParaRPr sz="1650" b="0" i="0" u="none" strike="noStrike" cap="none">
              <a:solidFill>
                <a:schemeClr val="dk1"/>
              </a:solidFill>
              <a:latin typeface="Calibri"/>
              <a:ea typeface="Calibri"/>
              <a:cs typeface="Calibri"/>
              <a:sym typeface="Calibri"/>
            </a:endParaRPr>
          </a:p>
        </p:txBody>
      </p:sp>
      <p:sp>
        <p:nvSpPr>
          <p:cNvPr id="22" name="Google Shape;22;p3"/>
          <p:cNvSpPr/>
          <p:nvPr/>
        </p:nvSpPr>
        <p:spPr>
          <a:xfrm>
            <a:off x="685800" y="3813048"/>
            <a:ext cx="475488" cy="475488"/>
          </a:xfrm>
          <a:prstGeom prst="ellipse">
            <a:avLst/>
          </a:prstGeom>
          <a:solidFill>
            <a:srgbClr val="3AA5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 name="Google Shape;23;p3" descr="preencoded.png"/>
          <p:cNvPicPr preferRelativeResize="0"/>
          <p:nvPr/>
        </p:nvPicPr>
        <p:blipFill rotWithShape="1">
          <a:blip r:embed="rId3">
            <a:alphaModFix/>
          </a:blip>
          <a:srcRect/>
          <a:stretch/>
        </p:blipFill>
        <p:spPr>
          <a:xfrm>
            <a:off x="804672" y="3931920"/>
            <a:ext cx="237744" cy="237744"/>
          </a:xfrm>
          <a:prstGeom prst="rect">
            <a:avLst/>
          </a:prstGeom>
          <a:noFill/>
          <a:ln>
            <a:noFill/>
          </a:ln>
        </p:spPr>
      </p:pic>
      <p:sp>
        <p:nvSpPr>
          <p:cNvPr id="24" name="Google Shape;24;p3"/>
          <p:cNvSpPr/>
          <p:nvPr/>
        </p:nvSpPr>
        <p:spPr>
          <a:xfrm>
            <a:off x="1371600" y="3767328"/>
            <a:ext cx="57150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Who they serve</a:t>
            </a:r>
            <a:endParaRPr sz="1400" b="0" i="0" u="none" strike="noStrike" cap="none">
              <a:solidFill>
                <a:schemeClr val="dk1"/>
              </a:solidFill>
              <a:latin typeface="Calibri"/>
              <a:ea typeface="Calibri"/>
              <a:cs typeface="Calibri"/>
              <a:sym typeface="Calibri"/>
            </a:endParaRPr>
          </a:p>
        </p:txBody>
      </p:sp>
      <p:sp>
        <p:nvSpPr>
          <p:cNvPr id="25" name="Google Shape;25;p3"/>
          <p:cNvSpPr/>
          <p:nvPr/>
        </p:nvSpPr>
        <p:spPr>
          <a:xfrm>
            <a:off x="1371600" y="4023360"/>
            <a:ext cx="5715000" cy="566928"/>
          </a:xfrm>
          <a:prstGeom prst="rect">
            <a:avLst/>
          </a:prstGeom>
          <a:noFill/>
          <a:ln>
            <a:noFill/>
          </a:ln>
        </p:spPr>
        <p:txBody>
          <a:bodyPr spcFirstLastPara="1" wrap="square" lIns="0" tIns="0" rIns="0" bIns="0" anchor="t" anchorCtr="0">
            <a:noAutofit/>
          </a:bodyPr>
          <a:lstStyle/>
          <a:p>
            <a:pPr marL="0" marR="0" lvl="0" indent="0" algn="l" rtl="0">
              <a:lnSpc>
                <a:spcPct val="130434"/>
              </a:lnSpc>
              <a:spcBef>
                <a:spcPts val="0"/>
              </a:spcBef>
              <a:spcAft>
                <a:spcPts val="0"/>
              </a:spcAft>
              <a:buClr>
                <a:srgbClr val="B7BFC0"/>
              </a:buClr>
              <a:buSzPts val="1150"/>
              <a:buFont typeface="Arial"/>
              <a:buNone/>
            </a:pPr>
            <a:r>
              <a:rPr lang="en-US" sz="1150" b="0" i="0" u="none" strike="noStrike" cap="none">
                <a:solidFill>
                  <a:srgbClr val="B7BFC0"/>
                </a:solidFill>
                <a:latin typeface="Arial"/>
                <a:ea typeface="Arial"/>
                <a:cs typeface="Arial"/>
                <a:sym typeface="Arial"/>
              </a:rPr>
              <a:t>Households on tight budgets — busy parents, shift workers, students. Many use older phones and shop once a week with a fixed amount to spend.</a:t>
            </a:r>
            <a:endParaRPr sz="1150" b="0" i="0" u="none" strike="noStrike" cap="none">
              <a:solidFill>
                <a:schemeClr val="dk1"/>
              </a:solidFill>
              <a:latin typeface="Calibri"/>
              <a:ea typeface="Calibri"/>
              <a:cs typeface="Calibri"/>
              <a:sym typeface="Calibri"/>
            </a:endParaRPr>
          </a:p>
        </p:txBody>
      </p:sp>
      <p:sp>
        <p:nvSpPr>
          <p:cNvPr id="26" name="Google Shape;26;p3"/>
          <p:cNvSpPr/>
          <p:nvPr/>
        </p:nvSpPr>
        <p:spPr>
          <a:xfrm>
            <a:off x="685800" y="4727448"/>
            <a:ext cx="475488" cy="475488"/>
          </a:xfrm>
          <a:prstGeom prst="ellipse">
            <a:avLst/>
          </a:prstGeom>
          <a:solidFill>
            <a:srgbClr val="F3764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 name="Google Shape;27;p3" descr="preencoded.png"/>
          <p:cNvPicPr preferRelativeResize="0"/>
          <p:nvPr/>
        </p:nvPicPr>
        <p:blipFill rotWithShape="1">
          <a:blip r:embed="rId4">
            <a:alphaModFix/>
          </a:blip>
          <a:srcRect/>
          <a:stretch/>
        </p:blipFill>
        <p:spPr>
          <a:xfrm>
            <a:off x="804672" y="4846320"/>
            <a:ext cx="237744" cy="237744"/>
          </a:xfrm>
          <a:prstGeom prst="rect">
            <a:avLst/>
          </a:prstGeom>
          <a:noFill/>
          <a:ln>
            <a:noFill/>
          </a:ln>
        </p:spPr>
      </p:pic>
      <p:sp>
        <p:nvSpPr>
          <p:cNvPr id="28" name="Google Shape;28;p3"/>
          <p:cNvSpPr/>
          <p:nvPr/>
        </p:nvSpPr>
        <p:spPr>
          <a:xfrm>
            <a:off x="1371600" y="4681728"/>
            <a:ext cx="57150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What they do</a:t>
            </a:r>
            <a:endParaRPr sz="1400" b="0" i="0" u="none" strike="noStrike" cap="none">
              <a:solidFill>
                <a:schemeClr val="dk1"/>
              </a:solidFill>
              <a:latin typeface="Calibri"/>
              <a:ea typeface="Calibri"/>
              <a:cs typeface="Calibri"/>
              <a:sym typeface="Calibri"/>
            </a:endParaRPr>
          </a:p>
        </p:txBody>
      </p:sp>
      <p:sp>
        <p:nvSpPr>
          <p:cNvPr id="29" name="Google Shape;29;p3"/>
          <p:cNvSpPr/>
          <p:nvPr/>
        </p:nvSpPr>
        <p:spPr>
          <a:xfrm>
            <a:off x="1371600" y="4937760"/>
            <a:ext cx="5715000" cy="566928"/>
          </a:xfrm>
          <a:prstGeom prst="rect">
            <a:avLst/>
          </a:prstGeom>
          <a:noFill/>
          <a:ln>
            <a:noFill/>
          </a:ln>
        </p:spPr>
        <p:txBody>
          <a:bodyPr spcFirstLastPara="1" wrap="square" lIns="0" tIns="0" rIns="0" bIns="0" anchor="t" anchorCtr="0">
            <a:noAutofit/>
          </a:bodyPr>
          <a:lstStyle/>
          <a:p>
            <a:pPr marL="0" marR="0" lvl="0" indent="0" algn="l" rtl="0">
              <a:lnSpc>
                <a:spcPct val="130434"/>
              </a:lnSpc>
              <a:spcBef>
                <a:spcPts val="0"/>
              </a:spcBef>
              <a:spcAft>
                <a:spcPts val="0"/>
              </a:spcAft>
              <a:buClr>
                <a:srgbClr val="B7BFC0"/>
              </a:buClr>
              <a:buSzPts val="1150"/>
              <a:buFont typeface="Arial"/>
              <a:buNone/>
            </a:pPr>
            <a:r>
              <a:rPr lang="en-US" sz="1150" b="0" i="0" u="none" strike="noStrike" cap="none">
                <a:solidFill>
                  <a:srgbClr val="B7BFC0"/>
                </a:solidFill>
                <a:latin typeface="Arial"/>
                <a:ea typeface="Arial"/>
                <a:cs typeface="Arial"/>
                <a:sym typeface="Arial"/>
              </a:rPr>
              <a:t>Free budget-friendly recipes, community cooking sessions and practical meal-planning support, delivered through local food hubs across the UK.</a:t>
            </a:r>
            <a:endParaRPr sz="1150" b="0" i="0" u="none" strike="noStrike" cap="none">
              <a:solidFill>
                <a:schemeClr val="dk1"/>
              </a:solidFill>
              <a:latin typeface="Calibri"/>
              <a:ea typeface="Calibri"/>
              <a:cs typeface="Calibri"/>
              <a:sym typeface="Calibri"/>
            </a:endParaRPr>
          </a:p>
        </p:txBody>
      </p:sp>
      <p:sp>
        <p:nvSpPr>
          <p:cNvPr id="30" name="Google Shape;30;p3"/>
          <p:cNvSpPr/>
          <p:nvPr/>
        </p:nvSpPr>
        <p:spPr>
          <a:xfrm>
            <a:off x="685800" y="5641848"/>
            <a:ext cx="475488" cy="475488"/>
          </a:xfrm>
          <a:prstGeom prst="ellipse">
            <a:avLst/>
          </a:prstGeom>
          <a:solidFill>
            <a:srgbClr val="62CC9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1" name="Google Shape;31;p3" descr="preencoded.png"/>
          <p:cNvPicPr preferRelativeResize="0"/>
          <p:nvPr/>
        </p:nvPicPr>
        <p:blipFill rotWithShape="1">
          <a:blip r:embed="rId5">
            <a:alphaModFix/>
          </a:blip>
          <a:srcRect/>
          <a:stretch/>
        </p:blipFill>
        <p:spPr>
          <a:xfrm>
            <a:off x="804672" y="5760720"/>
            <a:ext cx="237744" cy="237744"/>
          </a:xfrm>
          <a:prstGeom prst="rect">
            <a:avLst/>
          </a:prstGeom>
          <a:noFill/>
          <a:ln>
            <a:noFill/>
          </a:ln>
        </p:spPr>
      </p:pic>
      <p:sp>
        <p:nvSpPr>
          <p:cNvPr id="32" name="Google Shape;32;p3"/>
          <p:cNvSpPr/>
          <p:nvPr/>
        </p:nvSpPr>
        <p:spPr>
          <a:xfrm>
            <a:off x="1371600" y="5596128"/>
            <a:ext cx="57150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Why this app</a:t>
            </a:r>
            <a:endParaRPr sz="1400" b="0" i="0" u="none" strike="noStrike" cap="none">
              <a:solidFill>
                <a:schemeClr val="dk1"/>
              </a:solidFill>
              <a:latin typeface="Calibri"/>
              <a:ea typeface="Calibri"/>
              <a:cs typeface="Calibri"/>
              <a:sym typeface="Calibri"/>
            </a:endParaRPr>
          </a:p>
        </p:txBody>
      </p:sp>
      <p:sp>
        <p:nvSpPr>
          <p:cNvPr id="33" name="Google Shape;33;p3"/>
          <p:cNvSpPr/>
          <p:nvPr/>
        </p:nvSpPr>
        <p:spPr>
          <a:xfrm>
            <a:off x="1371600" y="5852160"/>
            <a:ext cx="5715000" cy="566928"/>
          </a:xfrm>
          <a:prstGeom prst="rect">
            <a:avLst/>
          </a:prstGeom>
          <a:noFill/>
          <a:ln>
            <a:noFill/>
          </a:ln>
        </p:spPr>
        <p:txBody>
          <a:bodyPr spcFirstLastPara="1" wrap="square" lIns="0" tIns="0" rIns="0" bIns="0" anchor="t" anchorCtr="0">
            <a:noAutofit/>
          </a:bodyPr>
          <a:lstStyle/>
          <a:p>
            <a:pPr marL="0" marR="0" lvl="0" indent="0" algn="l" rtl="0">
              <a:lnSpc>
                <a:spcPct val="130434"/>
              </a:lnSpc>
              <a:spcBef>
                <a:spcPts val="0"/>
              </a:spcBef>
              <a:spcAft>
                <a:spcPts val="0"/>
              </a:spcAft>
              <a:buClr>
                <a:srgbClr val="B7BFC0"/>
              </a:buClr>
              <a:buSzPts val="1150"/>
              <a:buFont typeface="Arial"/>
              <a:buNone/>
            </a:pPr>
            <a:r>
              <a:rPr lang="en-US" sz="1150" b="0" i="0" u="none" strike="noStrike" cap="none">
                <a:solidFill>
                  <a:srgbClr val="B7BFC0"/>
                </a:solidFill>
                <a:latin typeface="Arial"/>
                <a:ea typeface="Arial"/>
                <a:cs typeface="Arial"/>
                <a:sym typeface="Arial"/>
              </a:rPr>
              <a:t>Planning the week ahead is the biggest lever for cutting food cost and waste. Nosh wants that to feel effortless — never like homework.</a:t>
            </a:r>
            <a:endParaRPr sz="1150" b="0" i="0" u="none" strike="noStrike" cap="none">
              <a:solidFill>
                <a:schemeClr val="dk1"/>
              </a:solidFill>
              <a:latin typeface="Calibri"/>
              <a:ea typeface="Calibri"/>
              <a:cs typeface="Calibri"/>
              <a:sym typeface="Calibri"/>
            </a:endParaRPr>
          </a:p>
        </p:txBody>
      </p:sp>
      <p:pic>
        <p:nvPicPr>
          <p:cNvPr id="34" name="Google Shape;34;p3" descr="real-mark.png"/>
          <p:cNvPicPr preferRelativeResize="0"/>
          <p:nvPr/>
        </p:nvPicPr>
        <p:blipFill rotWithShape="1">
          <a:blip r:embed="rId6">
            <a:alphaModFix/>
          </a:blip>
          <a:srcRect/>
          <a:stretch/>
        </p:blipFill>
        <p:spPr>
          <a:xfrm>
            <a:off x="8613648" y="777240"/>
            <a:ext cx="2340864" cy="2606040"/>
          </a:xfrm>
          <a:prstGeom prst="rect">
            <a:avLst/>
          </a:prstGeom>
          <a:noFill/>
          <a:ln>
            <a:noFill/>
          </a:ln>
        </p:spPr>
      </p:pic>
      <p:pic>
        <p:nvPicPr>
          <p:cNvPr id="35" name="Google Shape;35;p3" descr="real-wordmark.png"/>
          <p:cNvPicPr preferRelativeResize="0"/>
          <p:nvPr/>
        </p:nvPicPr>
        <p:blipFill rotWithShape="1">
          <a:blip r:embed="rId7">
            <a:alphaModFix/>
          </a:blip>
          <a:srcRect/>
          <a:stretch/>
        </p:blipFill>
        <p:spPr>
          <a:xfrm>
            <a:off x="8275320" y="3520440"/>
            <a:ext cx="3017520" cy="1143000"/>
          </a:xfrm>
          <a:prstGeom prst="rect">
            <a:avLst/>
          </a:prstGeom>
          <a:noFill/>
          <a:ln>
            <a:noFill/>
          </a:ln>
        </p:spPr>
      </p:pic>
      <p:sp>
        <p:nvSpPr>
          <p:cNvPr id="36" name="Google Shape;36;p3"/>
          <p:cNvSpPr/>
          <p:nvPr/>
        </p:nvSpPr>
        <p:spPr>
          <a:xfrm>
            <a:off x="7818120" y="4709160"/>
            <a:ext cx="132588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2CC9B"/>
              </a:buClr>
              <a:buSzPts val="2400"/>
              <a:buFont typeface="Arial"/>
              <a:buNone/>
            </a:pPr>
            <a:r>
              <a:rPr lang="en-US" sz="2400" b="1" i="0" u="none" strike="noStrike" cap="none">
                <a:solidFill>
                  <a:srgbClr val="62CC9B"/>
                </a:solidFill>
                <a:latin typeface="Arial"/>
                <a:ea typeface="Arial"/>
                <a:cs typeface="Arial"/>
                <a:sym typeface="Arial"/>
              </a:rPr>
              <a:t>2019</a:t>
            </a:r>
            <a:endParaRPr sz="2400" b="0" i="0" u="none" strike="noStrike" cap="none">
              <a:solidFill>
                <a:schemeClr val="dk1"/>
              </a:solidFill>
              <a:latin typeface="Calibri"/>
              <a:ea typeface="Calibri"/>
              <a:cs typeface="Calibri"/>
              <a:sym typeface="Calibri"/>
            </a:endParaRPr>
          </a:p>
        </p:txBody>
      </p:sp>
      <p:sp>
        <p:nvSpPr>
          <p:cNvPr id="37" name="Google Shape;37;p3"/>
          <p:cNvSpPr/>
          <p:nvPr/>
        </p:nvSpPr>
        <p:spPr>
          <a:xfrm>
            <a:off x="7818120" y="5166360"/>
            <a:ext cx="1325880" cy="502920"/>
          </a:xfrm>
          <a:prstGeom prst="rect">
            <a:avLst/>
          </a:prstGeom>
          <a:noFill/>
          <a:ln>
            <a:noFill/>
          </a:ln>
        </p:spPr>
        <p:txBody>
          <a:bodyPr spcFirstLastPara="1" wrap="square" lIns="0" tIns="0" rIns="0" bIns="0" anchor="t" anchorCtr="0">
            <a:noAutofit/>
          </a:bodyPr>
          <a:lstStyle/>
          <a:p>
            <a:pPr marL="0" marR="0" lvl="0" indent="0" algn="ctr" rtl="0">
              <a:lnSpc>
                <a:spcPct val="126315"/>
              </a:lnSpc>
              <a:spcBef>
                <a:spcPts val="0"/>
              </a:spcBef>
              <a:spcAft>
                <a:spcPts val="0"/>
              </a:spcAft>
              <a:buClr>
                <a:srgbClr val="B7BFC0"/>
              </a:buClr>
              <a:buSzPts val="950"/>
              <a:buFont typeface="Arial"/>
              <a:buNone/>
            </a:pPr>
            <a:r>
              <a:rPr lang="en-US" sz="950" b="0" i="0" u="none" strike="noStrike" cap="none">
                <a:solidFill>
                  <a:srgbClr val="B7BFC0"/>
                </a:solidFill>
                <a:latin typeface="Arial"/>
                <a:ea typeface="Arial"/>
                <a:cs typeface="Arial"/>
                <a:sym typeface="Arial"/>
              </a:rPr>
              <a:t>founded</a:t>
            </a:r>
            <a:endParaRPr sz="950" b="0" i="0" u="none" strike="noStrike" cap="none">
              <a:solidFill>
                <a:schemeClr val="dk1"/>
              </a:solidFill>
              <a:latin typeface="Calibri"/>
              <a:ea typeface="Calibri"/>
              <a:cs typeface="Calibri"/>
              <a:sym typeface="Calibri"/>
            </a:endParaRPr>
          </a:p>
        </p:txBody>
      </p:sp>
      <p:sp>
        <p:nvSpPr>
          <p:cNvPr id="38" name="Google Shape;38;p3"/>
          <p:cNvSpPr/>
          <p:nvPr/>
        </p:nvSpPr>
        <p:spPr>
          <a:xfrm>
            <a:off x="9144000" y="4709160"/>
            <a:ext cx="132588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2CC9B"/>
              </a:buClr>
              <a:buSzPts val="2400"/>
              <a:buFont typeface="Arial"/>
              <a:buNone/>
            </a:pPr>
            <a:r>
              <a:rPr lang="en-US" sz="2400" b="1" i="0" u="none" strike="noStrike" cap="none">
                <a:solidFill>
                  <a:srgbClr val="62CC9B"/>
                </a:solidFill>
                <a:latin typeface="Arial"/>
                <a:ea typeface="Arial"/>
                <a:cs typeface="Arial"/>
                <a:sym typeface="Arial"/>
              </a:rPr>
              <a:t>40+</a:t>
            </a:r>
            <a:endParaRPr sz="2400" b="0" i="0" u="none" strike="noStrike" cap="none">
              <a:solidFill>
                <a:schemeClr val="dk1"/>
              </a:solidFill>
              <a:latin typeface="Calibri"/>
              <a:ea typeface="Calibri"/>
              <a:cs typeface="Calibri"/>
              <a:sym typeface="Calibri"/>
            </a:endParaRPr>
          </a:p>
        </p:txBody>
      </p:sp>
      <p:sp>
        <p:nvSpPr>
          <p:cNvPr id="39" name="Google Shape;39;p3"/>
          <p:cNvSpPr/>
          <p:nvPr/>
        </p:nvSpPr>
        <p:spPr>
          <a:xfrm>
            <a:off x="9144000" y="5166360"/>
            <a:ext cx="1325880" cy="502920"/>
          </a:xfrm>
          <a:prstGeom prst="rect">
            <a:avLst/>
          </a:prstGeom>
          <a:noFill/>
          <a:ln>
            <a:noFill/>
          </a:ln>
        </p:spPr>
        <p:txBody>
          <a:bodyPr spcFirstLastPara="1" wrap="square" lIns="0" tIns="0" rIns="0" bIns="0" anchor="t" anchorCtr="0">
            <a:noAutofit/>
          </a:bodyPr>
          <a:lstStyle/>
          <a:p>
            <a:pPr marL="0" marR="0" lvl="0" indent="0" algn="ctr" rtl="0">
              <a:lnSpc>
                <a:spcPct val="126315"/>
              </a:lnSpc>
              <a:spcBef>
                <a:spcPts val="0"/>
              </a:spcBef>
              <a:spcAft>
                <a:spcPts val="0"/>
              </a:spcAft>
              <a:buClr>
                <a:srgbClr val="B7BFC0"/>
              </a:buClr>
              <a:buSzPts val="950"/>
              <a:buFont typeface="Arial"/>
              <a:buNone/>
            </a:pPr>
            <a:r>
              <a:rPr lang="en-US" sz="950" b="0" i="0" u="none" strike="noStrike" cap="none">
                <a:solidFill>
                  <a:srgbClr val="B7BFC0"/>
                </a:solidFill>
                <a:latin typeface="Arial"/>
                <a:ea typeface="Arial"/>
                <a:cs typeface="Arial"/>
                <a:sym typeface="Arial"/>
              </a:rPr>
              <a:t>community food hubs</a:t>
            </a:r>
            <a:endParaRPr sz="950" b="0" i="0" u="none" strike="noStrike" cap="none">
              <a:solidFill>
                <a:schemeClr val="dk1"/>
              </a:solidFill>
              <a:latin typeface="Calibri"/>
              <a:ea typeface="Calibri"/>
              <a:cs typeface="Calibri"/>
              <a:sym typeface="Calibri"/>
            </a:endParaRPr>
          </a:p>
        </p:txBody>
      </p:sp>
      <p:sp>
        <p:nvSpPr>
          <p:cNvPr id="40" name="Google Shape;40;p3"/>
          <p:cNvSpPr/>
          <p:nvPr/>
        </p:nvSpPr>
        <p:spPr>
          <a:xfrm>
            <a:off x="10469880" y="4709160"/>
            <a:ext cx="132588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2CC9B"/>
              </a:buClr>
              <a:buSzPts val="2400"/>
              <a:buFont typeface="Arial"/>
              <a:buNone/>
            </a:pPr>
            <a:r>
              <a:rPr lang="en-US" sz="2400" b="1" i="0" u="none" strike="noStrike" cap="none">
                <a:solidFill>
                  <a:srgbClr val="62CC9B"/>
                </a:solidFill>
                <a:latin typeface="Arial"/>
                <a:ea typeface="Arial"/>
                <a:cs typeface="Arial"/>
                <a:sym typeface="Arial"/>
              </a:rPr>
              <a:t>12k</a:t>
            </a:r>
            <a:endParaRPr sz="2400" b="0" i="0" u="none" strike="noStrike" cap="none">
              <a:solidFill>
                <a:schemeClr val="dk1"/>
              </a:solidFill>
              <a:latin typeface="Calibri"/>
              <a:ea typeface="Calibri"/>
              <a:cs typeface="Calibri"/>
              <a:sym typeface="Calibri"/>
            </a:endParaRPr>
          </a:p>
        </p:txBody>
      </p:sp>
      <p:sp>
        <p:nvSpPr>
          <p:cNvPr id="41" name="Google Shape;41;p3"/>
          <p:cNvSpPr/>
          <p:nvPr/>
        </p:nvSpPr>
        <p:spPr>
          <a:xfrm>
            <a:off x="10469880" y="5166360"/>
            <a:ext cx="1325880" cy="502920"/>
          </a:xfrm>
          <a:prstGeom prst="rect">
            <a:avLst/>
          </a:prstGeom>
          <a:noFill/>
          <a:ln>
            <a:noFill/>
          </a:ln>
        </p:spPr>
        <p:txBody>
          <a:bodyPr spcFirstLastPara="1" wrap="square" lIns="0" tIns="0" rIns="0" bIns="0" anchor="t" anchorCtr="0">
            <a:noAutofit/>
          </a:bodyPr>
          <a:lstStyle/>
          <a:p>
            <a:pPr marL="0" marR="0" lvl="0" indent="0" algn="ctr" rtl="0">
              <a:lnSpc>
                <a:spcPct val="126315"/>
              </a:lnSpc>
              <a:spcBef>
                <a:spcPts val="0"/>
              </a:spcBef>
              <a:spcAft>
                <a:spcPts val="0"/>
              </a:spcAft>
              <a:buClr>
                <a:srgbClr val="B7BFC0"/>
              </a:buClr>
              <a:buSzPts val="950"/>
              <a:buFont typeface="Arial"/>
              <a:buNone/>
            </a:pPr>
            <a:r>
              <a:rPr lang="en-US" sz="950" b="0" i="0" u="none" strike="noStrike" cap="none">
                <a:solidFill>
                  <a:srgbClr val="B7BFC0"/>
                </a:solidFill>
                <a:latin typeface="Arial"/>
                <a:ea typeface="Arial"/>
                <a:cs typeface="Arial"/>
                <a:sym typeface="Arial"/>
              </a:rPr>
              <a:t>households supported</a:t>
            </a:r>
            <a:endParaRPr sz="950" b="0" i="0" u="none" strike="noStrike" cap="none">
              <a:solidFill>
                <a:schemeClr val="dk1"/>
              </a:solidFill>
              <a:latin typeface="Calibri"/>
              <a:ea typeface="Calibri"/>
              <a:cs typeface="Calibri"/>
              <a:sym typeface="Calibri"/>
            </a:endParaRPr>
          </a:p>
        </p:txBody>
      </p:sp>
      <p:pic>
        <p:nvPicPr>
          <p:cNvPr id="42" name="Google Shape;42;p3" descr="enablis-light.png"/>
          <p:cNvPicPr preferRelativeResize="0"/>
          <p:nvPr/>
        </p:nvPicPr>
        <p:blipFill rotWithShape="1">
          <a:blip r:embed="rId8">
            <a:alphaModFix/>
          </a:blip>
          <a:srcRect/>
          <a:stretch/>
        </p:blipFill>
        <p:spPr>
          <a:xfrm>
            <a:off x="10195560" y="420624"/>
            <a:ext cx="1280160" cy="289068"/>
          </a:xfrm>
          <a:prstGeom prst="rect">
            <a:avLst/>
          </a:prstGeom>
          <a:noFill/>
          <a:ln>
            <a:noFill/>
          </a:ln>
        </p:spPr>
      </p:pic>
      <p:sp>
        <p:nvSpPr>
          <p:cNvPr id="43" name="Google Shape;43;p3"/>
          <p:cNvSpPr txBox="1"/>
          <p:nvPr/>
        </p:nvSpPr>
        <p:spPr>
          <a:xfrm>
            <a:off x="6400800" y="6473952"/>
            <a:ext cx="5074920" cy="25603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900" b="0" i="0" u="none" strike="noStrike" cap="none">
                <a:solidFill>
                  <a:srgbClr val="B7BFC0"/>
                </a:solidFill>
                <a:latin typeface="Arial"/>
                <a:ea typeface="Arial"/>
                <a:cs typeface="Arial"/>
                <a:sym typeface="Arial"/>
              </a:rPr>
              <a:t>© 2026 Enablis. All rights reserved.</a:t>
            </a:r>
            <a:endParaRPr/>
          </a:p>
        </p:txBody>
      </p:sp>
      <p:sp>
        <p:nvSpPr>
          <p:cNvPr id="44" name="Google Shape;44;p3"/>
          <p:cNvSpPr txBox="1"/>
          <p:nvPr/>
        </p:nvSpPr>
        <p:spPr>
          <a:xfrm>
            <a:off x="685800" y="6473952"/>
            <a:ext cx="107898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0" i="1" u="none" strike="noStrike" cap="none">
                <a:solidFill>
                  <a:srgbClr val="B7BFC0"/>
                </a:solidFill>
                <a:latin typeface="Arial"/>
                <a:ea typeface="Arial"/>
                <a:cs typeface="Arial"/>
                <a:sym typeface="Arial"/>
              </a:rPr>
              <a:t>Nosh is a fictional client created for the Enablis engineering challenge.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4"/>
          <p:cNvSpPr/>
          <p:nvPr/>
        </p:nvSpPr>
        <p:spPr>
          <a:xfrm>
            <a:off x="0" y="0"/>
            <a:ext cx="12192000" cy="6858000"/>
          </a:xfrm>
          <a:prstGeom prst="rect">
            <a:avLst/>
          </a:prstGeom>
          <a:solidFill>
            <a:srgbClr val="2E37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 name="Google Shape;50;p4"/>
          <p:cNvSpPr txBox="1"/>
          <p:nvPr/>
        </p:nvSpPr>
        <p:spPr>
          <a:xfrm>
            <a:off x="685800" y="457200"/>
            <a:ext cx="107899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1" i="0" u="none" strike="noStrike" cap="none">
                <a:solidFill>
                  <a:srgbClr val="62CC9B"/>
                </a:solidFill>
                <a:latin typeface="Arial"/>
                <a:ea typeface="Arial"/>
                <a:cs typeface="Arial"/>
                <a:sym typeface="Arial"/>
              </a:rPr>
              <a:t>THE BRIEF  ·  PROJECT NOSH</a:t>
            </a:r>
            <a:endParaRPr/>
          </a:p>
        </p:txBody>
      </p:sp>
      <p:sp>
        <p:nvSpPr>
          <p:cNvPr id="51" name="Google Shape;51;p4"/>
          <p:cNvSpPr txBox="1"/>
          <p:nvPr/>
        </p:nvSpPr>
        <p:spPr>
          <a:xfrm>
            <a:off x="685800" y="749808"/>
            <a:ext cx="10058400" cy="68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a:solidFill>
                  <a:srgbClr val="FFFFFF"/>
                </a:solidFill>
                <a:latin typeface="Arial"/>
                <a:ea typeface="Arial"/>
                <a:cs typeface="Arial"/>
                <a:sym typeface="Arial"/>
              </a:rPr>
              <a:t>Your </a:t>
            </a:r>
            <a:r>
              <a:rPr lang="en-US" sz="4000" b="1" i="0" u="none" strike="noStrike" cap="none">
                <a:solidFill>
                  <a:srgbClr val="62CC9B"/>
                </a:solidFill>
                <a:latin typeface="Arial"/>
                <a:ea typeface="Arial"/>
                <a:cs typeface="Arial"/>
                <a:sym typeface="Arial"/>
              </a:rPr>
              <a:t>task</a:t>
            </a:r>
            <a:endParaRPr/>
          </a:p>
        </p:txBody>
      </p:sp>
      <p:sp>
        <p:nvSpPr>
          <p:cNvPr id="52" name="Google Shape;52;p4"/>
          <p:cNvSpPr txBox="1"/>
          <p:nvPr/>
        </p:nvSpPr>
        <p:spPr>
          <a:xfrm>
            <a:off x="685800" y="1554480"/>
            <a:ext cx="107898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00" b="0" i="0" u="none" strike="noStrike" cap="none">
                <a:solidFill>
                  <a:srgbClr val="FFFFFF"/>
                </a:solidFill>
                <a:latin typeface="Arial"/>
                <a:ea typeface="Arial"/>
                <a:cs typeface="Arial"/>
                <a:sym typeface="Arial"/>
              </a:rPr>
              <a:t>Prepare a working demo you can show to the client's Product Owner and Engineering Manager. One is focused on the product and its users, the other on how you built it, so be ready to talk </a:t>
            </a:r>
            <a:r>
              <a:rPr lang="en-US" sz="1500">
                <a:solidFill>
                  <a:srgbClr val="FFFFFF"/>
                </a:solidFill>
              </a:rPr>
              <a:t>about</a:t>
            </a:r>
            <a:r>
              <a:rPr lang="en-US" sz="1500" b="0" i="0" u="none" strike="noStrike" cap="none">
                <a:solidFill>
                  <a:srgbClr val="FFFFFF"/>
                </a:solidFill>
                <a:latin typeface="Arial"/>
                <a:ea typeface="Arial"/>
                <a:cs typeface="Arial"/>
                <a:sym typeface="Arial"/>
              </a:rPr>
              <a:t> both aspects.</a:t>
            </a:r>
            <a:endParaRPr/>
          </a:p>
        </p:txBody>
      </p:sp>
      <p:sp>
        <p:nvSpPr>
          <p:cNvPr id="53" name="Google Shape;53;p4"/>
          <p:cNvSpPr txBox="1"/>
          <p:nvPr/>
        </p:nvSpPr>
        <p:spPr>
          <a:xfrm>
            <a:off x="685800" y="2450592"/>
            <a:ext cx="8229600" cy="320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FFFFFF"/>
                </a:solidFill>
                <a:latin typeface="Arial"/>
                <a:ea typeface="Arial"/>
                <a:cs typeface="Arial"/>
                <a:sym typeface="Arial"/>
              </a:rPr>
              <a:t>What we would like you to build</a:t>
            </a:r>
            <a:endParaRPr/>
          </a:p>
        </p:txBody>
      </p:sp>
      <p:sp>
        <p:nvSpPr>
          <p:cNvPr id="54" name="Google Shape;54;p4"/>
          <p:cNvSpPr txBox="1"/>
          <p:nvPr/>
        </p:nvSpPr>
        <p:spPr>
          <a:xfrm>
            <a:off x="685800" y="2798064"/>
            <a:ext cx="10789920" cy="29260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0" i="0" u="none" strike="noStrike" cap="none">
                <a:solidFill>
                  <a:srgbClr val="B7BFC0"/>
                </a:solidFill>
                <a:latin typeface="Arial"/>
                <a:ea typeface="Arial"/>
                <a:cs typeface="Arial"/>
                <a:sym typeface="Arial"/>
              </a:rPr>
              <a:t>A working web app that lets someone:</a:t>
            </a:r>
            <a:endParaRPr/>
          </a:p>
        </p:txBody>
      </p:sp>
      <p:sp>
        <p:nvSpPr>
          <p:cNvPr id="55" name="Google Shape;55;p4"/>
          <p:cNvSpPr txBox="1"/>
          <p:nvPr/>
        </p:nvSpPr>
        <p:spPr>
          <a:xfrm>
            <a:off x="685800" y="3182112"/>
            <a:ext cx="51207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b="1">
                <a:solidFill>
                  <a:srgbClr val="62CC9B"/>
                </a:solidFill>
              </a:rPr>
              <a:t>1.</a:t>
            </a:r>
            <a:r>
              <a:rPr lang="en-US" sz="1400" b="1" i="0" u="none" strike="noStrike" cap="none">
                <a:solidFill>
                  <a:srgbClr val="62CC9B"/>
                </a:solidFill>
                <a:latin typeface="Arial"/>
                <a:ea typeface="Arial"/>
                <a:cs typeface="Arial"/>
                <a:sym typeface="Arial"/>
              </a:rPr>
              <a:t>  </a:t>
            </a:r>
            <a:r>
              <a:rPr lang="en-US" sz="1400" b="0" i="0" u="none" strike="noStrike" cap="none">
                <a:solidFill>
                  <a:srgbClr val="FFFFFF"/>
                </a:solidFill>
                <a:latin typeface="Arial"/>
                <a:ea typeface="Arial"/>
                <a:cs typeface="Arial"/>
                <a:sym typeface="Arial"/>
              </a:rPr>
              <a:t>Pick from a set of built-in starter recipes or add their own, each with ingredients and a method</a:t>
            </a:r>
            <a:endParaRPr/>
          </a:p>
          <a:p>
            <a:pPr marL="0" marR="0" lvl="0" indent="0" algn="l" rtl="0">
              <a:lnSpc>
                <a:spcPct val="100000"/>
              </a:lnSpc>
              <a:spcBef>
                <a:spcPts val="800"/>
              </a:spcBef>
              <a:spcAft>
                <a:spcPts val="0"/>
              </a:spcAft>
              <a:buNone/>
            </a:pPr>
            <a:r>
              <a:rPr lang="en-US" b="1">
                <a:solidFill>
                  <a:srgbClr val="62CC9B"/>
                </a:solidFill>
              </a:rPr>
              <a:t>2.</a:t>
            </a:r>
            <a:r>
              <a:rPr lang="en-US" sz="1400" b="1" i="0" u="none" strike="noStrike" cap="none">
                <a:solidFill>
                  <a:srgbClr val="62CC9B"/>
                </a:solidFill>
                <a:latin typeface="Arial"/>
                <a:ea typeface="Arial"/>
                <a:cs typeface="Arial"/>
                <a:sym typeface="Arial"/>
              </a:rPr>
              <a:t>  </a:t>
            </a:r>
            <a:r>
              <a:rPr lang="en-US" sz="1400" b="0" i="0" u="none" strike="noStrike" cap="none">
                <a:solidFill>
                  <a:srgbClr val="FFFFFF"/>
                </a:solidFill>
                <a:latin typeface="Arial"/>
                <a:ea typeface="Arial"/>
                <a:cs typeface="Arial"/>
                <a:sym typeface="Arial"/>
              </a:rPr>
              <a:t>Set a few basic dietary preferences, such as vegetarian or dairy-free, so the recipes on offer suit them</a:t>
            </a:r>
            <a:endParaRPr/>
          </a:p>
        </p:txBody>
      </p:sp>
      <p:sp>
        <p:nvSpPr>
          <p:cNvPr id="56" name="Google Shape;56;p4"/>
          <p:cNvSpPr txBox="1"/>
          <p:nvPr/>
        </p:nvSpPr>
        <p:spPr>
          <a:xfrm>
            <a:off x="6263640" y="3182112"/>
            <a:ext cx="5074800" cy="964500"/>
          </a:xfrm>
          <a:prstGeom prst="rect">
            <a:avLst/>
          </a:prstGeom>
          <a:noFill/>
          <a:ln>
            <a:noFill/>
          </a:ln>
        </p:spPr>
        <p:txBody>
          <a:bodyPr spcFirstLastPara="1" wrap="square" lIns="0" tIns="0" rIns="0" bIns="0" anchor="t" anchorCtr="0">
            <a:spAutoFit/>
          </a:bodyPr>
          <a:lstStyle/>
          <a:p>
            <a:pPr marL="219456" marR="0" lvl="0" indent="-219456" algn="l" rtl="0">
              <a:lnSpc>
                <a:spcPct val="100000"/>
              </a:lnSpc>
              <a:spcBef>
                <a:spcPts val="0"/>
              </a:spcBef>
              <a:spcAft>
                <a:spcPts val="0"/>
              </a:spcAft>
              <a:buNone/>
            </a:pPr>
            <a:r>
              <a:rPr lang="en-US" b="1">
                <a:solidFill>
                  <a:srgbClr val="62CC9B"/>
                </a:solidFill>
              </a:rPr>
              <a:t>3.</a:t>
            </a:r>
            <a:r>
              <a:rPr lang="en-US" sz="1400" b="1" i="0" u="none" strike="noStrike" cap="none">
                <a:solidFill>
                  <a:srgbClr val="62CC9B"/>
                </a:solidFill>
                <a:latin typeface="Arial"/>
                <a:ea typeface="Arial"/>
                <a:cs typeface="Arial"/>
                <a:sym typeface="Arial"/>
              </a:rPr>
              <a:t>  </a:t>
            </a:r>
            <a:r>
              <a:rPr lang="en-US" sz="1400" b="0" i="0" u="none" strike="noStrike" cap="none">
                <a:solidFill>
                  <a:srgbClr val="FFFFFF"/>
                </a:solidFill>
                <a:latin typeface="Arial"/>
                <a:ea typeface="Arial"/>
                <a:cs typeface="Arial"/>
                <a:sym typeface="Arial"/>
              </a:rPr>
              <a:t>Plan recipes across the days of the week</a:t>
            </a:r>
            <a:endParaRPr/>
          </a:p>
          <a:p>
            <a:pPr marL="219456" marR="0" lvl="0" indent="-219456" algn="l" rtl="0">
              <a:lnSpc>
                <a:spcPct val="100000"/>
              </a:lnSpc>
              <a:spcBef>
                <a:spcPts val="800"/>
              </a:spcBef>
              <a:spcAft>
                <a:spcPts val="0"/>
              </a:spcAft>
              <a:buNone/>
            </a:pPr>
            <a:r>
              <a:rPr lang="en-US" b="1">
                <a:solidFill>
                  <a:srgbClr val="62CC9B"/>
                </a:solidFill>
              </a:rPr>
              <a:t>4.</a:t>
            </a:r>
            <a:r>
              <a:rPr lang="en-US" sz="1400" b="1" i="0" u="none" strike="noStrike" cap="none">
                <a:solidFill>
                  <a:srgbClr val="62CC9B"/>
                </a:solidFill>
                <a:latin typeface="Arial"/>
                <a:ea typeface="Arial"/>
                <a:cs typeface="Arial"/>
                <a:sym typeface="Arial"/>
              </a:rPr>
              <a:t>  </a:t>
            </a:r>
            <a:r>
              <a:rPr lang="en-US" sz="1400" b="0" i="0" u="none" strike="noStrike" cap="none">
                <a:solidFill>
                  <a:srgbClr val="FFFFFF"/>
                </a:solidFill>
                <a:latin typeface="Arial"/>
                <a:ea typeface="Arial"/>
                <a:cs typeface="Arial"/>
                <a:sym typeface="Arial"/>
              </a:rPr>
              <a:t>Generate a combined shopping list from that plan, with the same ingredient pulled from several recipes and quantities added up sensibly</a:t>
            </a:r>
            <a:endParaRPr/>
          </a:p>
        </p:txBody>
      </p:sp>
      <p:sp>
        <p:nvSpPr>
          <p:cNvPr id="57" name="Google Shape;57;p4"/>
          <p:cNvSpPr/>
          <p:nvPr/>
        </p:nvSpPr>
        <p:spPr>
          <a:xfrm>
            <a:off x="685800" y="4814947"/>
            <a:ext cx="10789800" cy="960000"/>
          </a:xfrm>
          <a:prstGeom prst="roundRect">
            <a:avLst>
              <a:gd name="adj" fmla="val 5000"/>
            </a:avLst>
          </a:prstGeom>
          <a:solidFill>
            <a:srgbClr val="39434B"/>
          </a:solidFill>
          <a:ln>
            <a:noFill/>
          </a:ln>
        </p:spPr>
        <p:txBody>
          <a:bodyPr spcFirstLastPara="1" wrap="square" lIns="274300" tIns="146300" rIns="274300" bIns="146300" anchor="ctr" anchorCtr="0">
            <a:noAutofit/>
          </a:bodyPr>
          <a:lstStyle/>
          <a:p>
            <a:pPr marL="0" marR="0" lvl="0" indent="0" algn="l" rtl="0">
              <a:lnSpc>
                <a:spcPct val="100000"/>
              </a:lnSpc>
              <a:spcBef>
                <a:spcPts val="0"/>
              </a:spcBef>
              <a:spcAft>
                <a:spcPts val="0"/>
              </a:spcAft>
              <a:buNone/>
            </a:pPr>
            <a:r>
              <a:rPr lang="en-US" b="1" i="0" u="none" strike="noStrike" cap="none">
                <a:solidFill>
                  <a:srgbClr val="62CC9B"/>
                </a:solidFill>
                <a:latin typeface="Arial"/>
                <a:ea typeface="Arial"/>
                <a:cs typeface="Arial"/>
                <a:sym typeface="Arial"/>
              </a:rPr>
              <a:t>Baseline plus one.  </a:t>
            </a:r>
            <a:endParaRPr b="1" i="0" u="none" strike="noStrike" cap="none">
              <a:solidFill>
                <a:srgbClr val="62CC9B"/>
              </a:solidFill>
              <a:latin typeface="Arial"/>
              <a:ea typeface="Arial"/>
              <a:cs typeface="Arial"/>
              <a:sym typeface="Arial"/>
            </a:endParaRPr>
          </a:p>
          <a:p>
            <a:pPr marL="0" marR="0" lvl="0" indent="0" algn="l" rtl="0">
              <a:lnSpc>
                <a:spcPct val="100000"/>
              </a:lnSpc>
              <a:spcBef>
                <a:spcPts val="0"/>
              </a:spcBef>
              <a:spcAft>
                <a:spcPts val="0"/>
              </a:spcAft>
              <a:buNone/>
            </a:pPr>
            <a:r>
              <a:rPr lang="en-US" b="0" i="1" u="none" strike="noStrike" cap="none">
                <a:solidFill>
                  <a:srgbClr val="FFFFFF"/>
                </a:solidFill>
                <a:latin typeface="Arial"/>
                <a:ea typeface="Arial"/>
                <a:cs typeface="Arial"/>
                <a:sym typeface="Arial"/>
              </a:rPr>
              <a:t>Treat that list as the baseline. The rest of the shape is yours, and we would like you to add a feature of your own that you think makes it a stronger </a:t>
            </a:r>
            <a:r>
              <a:rPr lang="en-US" i="1">
                <a:solidFill>
                  <a:srgbClr val="FFFFFF"/>
                </a:solidFill>
              </a:rPr>
              <a:t>solution</a:t>
            </a:r>
            <a:r>
              <a:rPr lang="en-US" b="0" i="1" u="none" strike="noStrike" cap="none">
                <a:solidFill>
                  <a:srgbClr val="FFFFFF"/>
                </a:solidFill>
                <a:latin typeface="Arial"/>
                <a:ea typeface="Arial"/>
                <a:cs typeface="Arial"/>
                <a:sym typeface="Arial"/>
              </a:rPr>
              <a:t>.</a:t>
            </a:r>
            <a:endParaRPr sz="1500" i="1"/>
          </a:p>
        </p:txBody>
      </p:sp>
      <p:sp>
        <p:nvSpPr>
          <p:cNvPr id="58" name="Google Shape;58;p4"/>
          <p:cNvSpPr txBox="1"/>
          <p:nvPr/>
        </p:nvSpPr>
        <p:spPr>
          <a:xfrm>
            <a:off x="685800" y="6473952"/>
            <a:ext cx="10789920"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0" i="1" u="none" strike="noStrike" cap="none">
                <a:solidFill>
                  <a:srgbClr val="B7BFC0"/>
                </a:solidFill>
                <a:latin typeface="Arial"/>
                <a:ea typeface="Arial"/>
                <a:cs typeface="Arial"/>
                <a:sym typeface="Arial"/>
              </a:rPr>
              <a:t>Nosh is a fictional client created for the Enablis engineering challenge.</a:t>
            </a:r>
            <a:endParaRPr/>
          </a:p>
        </p:txBody>
      </p:sp>
      <p:pic>
        <p:nvPicPr>
          <p:cNvPr id="59" name="Google Shape;59;p4" descr="enablis-light.png"/>
          <p:cNvPicPr preferRelativeResize="0"/>
          <p:nvPr/>
        </p:nvPicPr>
        <p:blipFill rotWithShape="1">
          <a:blip r:embed="rId3">
            <a:alphaModFix/>
          </a:blip>
          <a:srcRect/>
          <a:stretch/>
        </p:blipFill>
        <p:spPr>
          <a:xfrm>
            <a:off x="10195560" y="420624"/>
            <a:ext cx="1280160" cy="289068"/>
          </a:xfrm>
          <a:prstGeom prst="rect">
            <a:avLst/>
          </a:prstGeom>
          <a:noFill/>
          <a:ln>
            <a:noFill/>
          </a:ln>
        </p:spPr>
      </p:pic>
      <p:sp>
        <p:nvSpPr>
          <p:cNvPr id="60" name="Google Shape;60;p4"/>
          <p:cNvSpPr txBox="1"/>
          <p:nvPr/>
        </p:nvSpPr>
        <p:spPr>
          <a:xfrm>
            <a:off x="6400800" y="6473952"/>
            <a:ext cx="5074920" cy="25603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900" b="0" i="0" u="none" strike="noStrike" cap="none">
                <a:solidFill>
                  <a:srgbClr val="B7BFC0"/>
                </a:solidFill>
                <a:latin typeface="Arial"/>
                <a:ea typeface="Arial"/>
                <a:cs typeface="Arial"/>
                <a:sym typeface="Arial"/>
              </a:rPr>
              <a:t>© 2026 Enablis. All rights reserved.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5"/>
          <p:cNvSpPr/>
          <p:nvPr/>
        </p:nvSpPr>
        <p:spPr>
          <a:xfrm>
            <a:off x="0" y="0"/>
            <a:ext cx="12192000" cy="6858000"/>
          </a:xfrm>
          <a:prstGeom prst="rect">
            <a:avLst/>
          </a:prstGeom>
          <a:solidFill>
            <a:srgbClr val="2E37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 name="Google Shape;66;p5"/>
          <p:cNvSpPr txBox="1"/>
          <p:nvPr/>
        </p:nvSpPr>
        <p:spPr>
          <a:xfrm>
            <a:off x="685800" y="457200"/>
            <a:ext cx="107899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1" i="0" u="none" strike="noStrike" cap="none">
                <a:solidFill>
                  <a:srgbClr val="62CC9B"/>
                </a:solidFill>
                <a:latin typeface="Arial"/>
                <a:ea typeface="Arial"/>
                <a:cs typeface="Arial"/>
                <a:sym typeface="Arial"/>
              </a:rPr>
              <a:t>GROUND RULES  ·  PROJECT NOSH</a:t>
            </a:r>
            <a:endParaRPr/>
          </a:p>
        </p:txBody>
      </p:sp>
      <p:sp>
        <p:nvSpPr>
          <p:cNvPr id="67" name="Google Shape;67;p5"/>
          <p:cNvSpPr txBox="1"/>
          <p:nvPr/>
        </p:nvSpPr>
        <p:spPr>
          <a:xfrm>
            <a:off x="685800" y="749808"/>
            <a:ext cx="10058400" cy="68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a:solidFill>
                  <a:srgbClr val="FFFFFF"/>
                </a:solidFill>
                <a:latin typeface="Arial"/>
                <a:ea typeface="Arial"/>
                <a:cs typeface="Arial"/>
                <a:sym typeface="Arial"/>
              </a:rPr>
              <a:t>Ground </a:t>
            </a:r>
            <a:r>
              <a:rPr lang="en-US" sz="4000" b="1" i="0" u="none" strike="noStrike" cap="none">
                <a:solidFill>
                  <a:srgbClr val="62CC9B"/>
                </a:solidFill>
                <a:latin typeface="Arial"/>
                <a:ea typeface="Arial"/>
                <a:cs typeface="Arial"/>
                <a:sym typeface="Arial"/>
              </a:rPr>
              <a:t>rules</a:t>
            </a:r>
            <a:endParaRPr/>
          </a:p>
        </p:txBody>
      </p:sp>
      <p:sp>
        <p:nvSpPr>
          <p:cNvPr id="68" name="Google Shape;68;p5"/>
          <p:cNvSpPr txBox="1"/>
          <p:nvPr/>
        </p:nvSpPr>
        <p:spPr>
          <a:xfrm>
            <a:off x="685800" y="1645920"/>
            <a:ext cx="5120700" cy="2729700"/>
          </a:xfrm>
          <a:prstGeom prst="rect">
            <a:avLst/>
          </a:prstGeom>
          <a:noFill/>
          <a:ln>
            <a:noFill/>
          </a:ln>
        </p:spPr>
        <p:txBody>
          <a:bodyPr spcFirstLastPara="1" wrap="square" lIns="0" tIns="0" rIns="0" bIns="0" anchor="t" anchorCtr="0">
            <a:spAutoFit/>
          </a:bodyPr>
          <a:lstStyle/>
          <a:p>
            <a:pPr marL="219456" marR="0" lvl="0" indent="-219456" algn="l" rtl="0">
              <a:lnSpc>
                <a:spcPct val="100000"/>
              </a:lnSpc>
              <a:spcBef>
                <a:spcPts val="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This is an AI-assisted challenge, so use whatever AI tooling you like.</a:t>
            </a:r>
            <a:endParaRPr sz="1500"/>
          </a:p>
          <a:p>
            <a:pPr marL="219456" marR="0" lvl="0" indent="-219456" algn="l" rtl="0">
              <a:lnSpc>
                <a:spcPct val="100000"/>
              </a:lnSpc>
              <a:spcBef>
                <a:spcPts val="70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Build it in your own time and bring it along to a session where you will demo it and talk us through how you built it.</a:t>
            </a:r>
            <a:endParaRPr sz="1500"/>
          </a:p>
          <a:p>
            <a:pPr marL="219456" marR="0" lvl="0" indent="-219456" algn="l" rtl="0">
              <a:lnSpc>
                <a:spcPct val="100000"/>
              </a:lnSpc>
              <a:spcBef>
                <a:spcPts val="70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Manage the code as a git repo and bring the history with you.</a:t>
            </a:r>
            <a:endParaRPr sz="1500"/>
          </a:p>
          <a:p>
            <a:pPr marL="219456" marR="0" lvl="0" indent="-219456" algn="l" rtl="0">
              <a:lnSpc>
                <a:spcPct val="100000"/>
              </a:lnSpc>
              <a:spcBef>
                <a:spcPts val="70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We may ask you to add a small feature during the session, so be ready to extend it live.</a:t>
            </a:r>
            <a:endParaRPr sz="1500"/>
          </a:p>
          <a:p>
            <a:pPr marL="219456" marR="0" lvl="0" indent="-219456" algn="l" rtl="0">
              <a:lnSpc>
                <a:spcPct val="100000"/>
              </a:lnSpc>
              <a:spcBef>
                <a:spcPts val="700"/>
              </a:spcBef>
              <a:spcAft>
                <a:spcPts val="0"/>
              </a:spcAft>
              <a:buClr>
                <a:srgbClr val="000000"/>
              </a:buClr>
              <a:buFont typeface="Arial"/>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Build it as a layered web app you can run locally, with a client UI and a separate API layer behind it. Use whatever languages you like (e.g. TypeScript, Go, Java, .NET, Node, Python).</a:t>
            </a:r>
            <a:endParaRPr sz="1500"/>
          </a:p>
        </p:txBody>
      </p:sp>
      <p:sp>
        <p:nvSpPr>
          <p:cNvPr id="69" name="Google Shape;69;p5"/>
          <p:cNvSpPr txBox="1"/>
          <p:nvPr/>
        </p:nvSpPr>
        <p:spPr>
          <a:xfrm>
            <a:off x="6263640" y="1645920"/>
            <a:ext cx="5074800" cy="1993200"/>
          </a:xfrm>
          <a:prstGeom prst="rect">
            <a:avLst/>
          </a:prstGeom>
          <a:noFill/>
          <a:ln>
            <a:noFill/>
          </a:ln>
        </p:spPr>
        <p:txBody>
          <a:bodyPr spcFirstLastPara="1" wrap="square" lIns="0" tIns="0" rIns="0" bIns="0" anchor="t" anchorCtr="0">
            <a:spAutoFit/>
          </a:bodyPr>
          <a:lstStyle/>
          <a:p>
            <a:pPr marL="219456" marR="0" lvl="0" indent="-219456" algn="l" rtl="0">
              <a:lnSpc>
                <a:spcPct val="100000"/>
              </a:lnSpc>
              <a:spcBef>
                <a:spcPts val="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How you store data is your call. This is a demo, so feel free to use local storage solutions e.g. sqlite.</a:t>
            </a:r>
            <a:endParaRPr sz="1500"/>
          </a:p>
          <a:p>
            <a:pPr marL="219456" marR="0" lvl="0" indent="-219456" algn="l" rtl="0">
              <a:lnSpc>
                <a:spcPct val="100000"/>
              </a:lnSpc>
              <a:spcBef>
                <a:spcPts val="70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We are providing a set of starter recipes as a JSON file (project-nosh-sample-recipes.json).</a:t>
            </a:r>
            <a:endParaRPr sz="1500"/>
          </a:p>
          <a:p>
            <a:pPr marL="219456" marR="0" lvl="0" indent="-219456" algn="l" rtl="0">
              <a:lnSpc>
                <a:spcPct val="100000"/>
              </a:lnSpc>
              <a:spcBef>
                <a:spcPts val="700"/>
              </a:spcBef>
              <a:spcAft>
                <a:spcPts val="0"/>
              </a:spcAft>
              <a:buClr>
                <a:srgbClr val="000000"/>
              </a:buClr>
              <a:buFont typeface="Arial"/>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Assume a single user, so there is no need for logins or authentication.</a:t>
            </a:r>
            <a:endParaRPr sz="1500"/>
          </a:p>
          <a:p>
            <a:pPr marL="219456" marR="0" lvl="0" indent="-219456" algn="l" rtl="0">
              <a:lnSpc>
                <a:spcPct val="100000"/>
              </a:lnSpc>
              <a:spcBef>
                <a:spcPts val="700"/>
              </a:spcBef>
              <a:spcAft>
                <a:spcPts val="0"/>
              </a:spcAft>
              <a:buNone/>
            </a:pPr>
            <a:r>
              <a:rPr lang="en-US" b="1" i="0" u="none" strike="noStrike" cap="none">
                <a:solidFill>
                  <a:srgbClr val="62CC9B"/>
                </a:solidFill>
                <a:latin typeface="Arial"/>
                <a:ea typeface="Arial"/>
                <a:cs typeface="Arial"/>
                <a:sym typeface="Arial"/>
              </a:rPr>
              <a:t>•  </a:t>
            </a:r>
            <a:r>
              <a:rPr lang="en-US" b="0" i="0" u="none" strike="noStrike" cap="none">
                <a:solidFill>
                  <a:srgbClr val="FFFFFF"/>
                </a:solidFill>
                <a:latin typeface="Arial"/>
                <a:ea typeface="Arial"/>
                <a:cs typeface="Arial"/>
                <a:sym typeface="Arial"/>
              </a:rPr>
              <a:t>Please do not pour days into this, around </a:t>
            </a:r>
            <a:r>
              <a:rPr lang="en-US">
                <a:solidFill>
                  <a:srgbClr val="FFFFFF"/>
                </a:solidFill>
              </a:rPr>
              <a:t>2</a:t>
            </a:r>
            <a:r>
              <a:rPr lang="en-US" b="0" i="0" u="none" strike="noStrike" cap="none">
                <a:solidFill>
                  <a:srgbClr val="FFFFFF"/>
                </a:solidFill>
                <a:latin typeface="Arial"/>
                <a:ea typeface="Arial"/>
                <a:cs typeface="Arial"/>
                <a:sym typeface="Arial"/>
              </a:rPr>
              <a:t> to </a:t>
            </a:r>
            <a:r>
              <a:rPr lang="en-US">
                <a:solidFill>
                  <a:srgbClr val="FFFFFF"/>
                </a:solidFill>
              </a:rPr>
              <a:t>3</a:t>
            </a:r>
            <a:r>
              <a:rPr lang="en-US" b="0" i="0" u="none" strike="noStrike" cap="none">
                <a:solidFill>
                  <a:srgbClr val="FFFFFF"/>
                </a:solidFill>
                <a:latin typeface="Arial"/>
                <a:ea typeface="Arial"/>
                <a:cs typeface="Arial"/>
                <a:sym typeface="Arial"/>
              </a:rPr>
              <a:t> hours is plenty.</a:t>
            </a:r>
            <a:endParaRPr sz="1500"/>
          </a:p>
        </p:txBody>
      </p:sp>
      <p:sp>
        <p:nvSpPr>
          <p:cNvPr id="70" name="Google Shape;70;p5"/>
          <p:cNvSpPr/>
          <p:nvPr/>
        </p:nvSpPr>
        <p:spPr>
          <a:xfrm>
            <a:off x="685800" y="4983480"/>
            <a:ext cx="10789920" cy="1005840"/>
          </a:xfrm>
          <a:prstGeom prst="roundRect">
            <a:avLst>
              <a:gd name="adj" fmla="val 5000"/>
            </a:avLst>
          </a:prstGeom>
          <a:solidFill>
            <a:srgbClr val="39434B"/>
          </a:solidFill>
          <a:ln>
            <a:noFill/>
          </a:ln>
        </p:spPr>
        <p:txBody>
          <a:bodyPr spcFirstLastPara="1" wrap="square" lIns="274300" tIns="146300" rIns="274300" bIns="146300" anchor="ctr" anchorCtr="0">
            <a:noAutofit/>
          </a:bodyPr>
          <a:lstStyle/>
          <a:p>
            <a:pPr marL="0" marR="0" lvl="0" indent="0" algn="l" rtl="0">
              <a:lnSpc>
                <a:spcPct val="100000"/>
              </a:lnSpc>
              <a:spcBef>
                <a:spcPts val="0"/>
              </a:spcBef>
              <a:spcAft>
                <a:spcPts val="0"/>
              </a:spcAft>
              <a:buNone/>
            </a:pPr>
            <a:r>
              <a:rPr lang="en-US" sz="1300" b="1" i="0" u="none" strike="noStrike" cap="none">
                <a:solidFill>
                  <a:srgbClr val="62CC9B"/>
                </a:solidFill>
                <a:latin typeface="Arial"/>
                <a:ea typeface="Arial"/>
                <a:cs typeface="Arial"/>
                <a:sym typeface="Arial"/>
              </a:rPr>
              <a:t>There is no single right answer here.  </a:t>
            </a:r>
            <a:endParaRPr sz="1300" b="1" i="0" u="none" strike="noStrike" cap="none">
              <a:solidFill>
                <a:srgbClr val="62CC9B"/>
              </a:solidFill>
              <a:latin typeface="Arial"/>
              <a:ea typeface="Arial"/>
              <a:cs typeface="Arial"/>
              <a:sym typeface="Arial"/>
            </a:endParaRPr>
          </a:p>
          <a:p>
            <a:pPr marL="0" marR="0" lvl="0" indent="0" algn="l" rtl="0">
              <a:lnSpc>
                <a:spcPct val="100000"/>
              </a:lnSpc>
              <a:spcBef>
                <a:spcPts val="0"/>
              </a:spcBef>
              <a:spcAft>
                <a:spcPts val="0"/>
              </a:spcAft>
              <a:buNone/>
            </a:pPr>
            <a:r>
              <a:rPr lang="en-US" sz="1300" b="0" i="1" u="none" strike="noStrike" cap="none">
                <a:solidFill>
                  <a:srgbClr val="FFFFFF"/>
                </a:solidFill>
                <a:latin typeface="Arial"/>
                <a:ea typeface="Arial"/>
                <a:cs typeface="Arial"/>
                <a:sym typeface="Arial"/>
              </a:rPr>
              <a:t>Build it the way you would for a client, and come ready to walk us through your decisions and how you worked. We are interested in your judgement, not a checklist.</a:t>
            </a:r>
            <a:endParaRPr/>
          </a:p>
        </p:txBody>
      </p:sp>
      <p:sp>
        <p:nvSpPr>
          <p:cNvPr id="71" name="Google Shape;71;p5"/>
          <p:cNvSpPr txBox="1"/>
          <p:nvPr/>
        </p:nvSpPr>
        <p:spPr>
          <a:xfrm>
            <a:off x="685800" y="6473952"/>
            <a:ext cx="10789920"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0" i="1" u="none" strike="noStrike" cap="none">
                <a:solidFill>
                  <a:srgbClr val="B7BFC0"/>
                </a:solidFill>
                <a:latin typeface="Arial"/>
                <a:ea typeface="Arial"/>
                <a:cs typeface="Arial"/>
                <a:sym typeface="Arial"/>
              </a:rPr>
              <a:t>Nosh is a fictional client created for the Enablis engineering challenge.</a:t>
            </a:r>
            <a:endParaRPr/>
          </a:p>
        </p:txBody>
      </p:sp>
      <p:pic>
        <p:nvPicPr>
          <p:cNvPr id="72" name="Google Shape;72;p5" descr="enablis-light.png"/>
          <p:cNvPicPr preferRelativeResize="0"/>
          <p:nvPr/>
        </p:nvPicPr>
        <p:blipFill rotWithShape="1">
          <a:blip r:embed="rId3">
            <a:alphaModFix/>
          </a:blip>
          <a:srcRect/>
          <a:stretch/>
        </p:blipFill>
        <p:spPr>
          <a:xfrm>
            <a:off x="10195560" y="420624"/>
            <a:ext cx="1280160" cy="289068"/>
          </a:xfrm>
          <a:prstGeom prst="rect">
            <a:avLst/>
          </a:prstGeom>
          <a:noFill/>
          <a:ln>
            <a:noFill/>
          </a:ln>
        </p:spPr>
      </p:pic>
      <p:sp>
        <p:nvSpPr>
          <p:cNvPr id="73" name="Google Shape;73;p5"/>
          <p:cNvSpPr txBox="1"/>
          <p:nvPr/>
        </p:nvSpPr>
        <p:spPr>
          <a:xfrm>
            <a:off x="6400800" y="6473952"/>
            <a:ext cx="5074920" cy="25603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900" b="0" i="0" u="none" strike="noStrike" cap="none">
                <a:solidFill>
                  <a:srgbClr val="B7BFC0"/>
                </a:solidFill>
                <a:latin typeface="Arial"/>
                <a:ea typeface="Arial"/>
                <a:cs typeface="Arial"/>
                <a:sym typeface="Arial"/>
              </a:rPr>
              <a:t>© 2026 Enablis.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
        <p:cNvGrpSpPr/>
        <p:nvPr/>
      </p:nvGrpSpPr>
      <p:grpSpPr>
        <a:xfrm>
          <a:off x="0" y="0"/>
          <a:ext cx="0" cy="0"/>
          <a:chOff x="0" y="0"/>
          <a:chExt cx="0" cy="0"/>
        </a:xfrm>
      </p:grpSpPr>
      <p:sp>
        <p:nvSpPr>
          <p:cNvPr id="79" name="Google Shape;79;p6"/>
          <p:cNvSpPr/>
          <p:nvPr/>
        </p:nvSpPr>
        <p:spPr>
          <a:xfrm>
            <a:off x="685800" y="435077"/>
            <a:ext cx="64008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AA58F"/>
              </a:buClr>
              <a:buSzPts val="1100"/>
              <a:buFont typeface="Arial"/>
              <a:buNone/>
            </a:pPr>
            <a:r>
              <a:rPr lang="en-US" sz="1100" b="1" i="0" u="none" strike="noStrike" cap="none">
                <a:solidFill>
                  <a:srgbClr val="3AA58F"/>
                </a:solidFill>
                <a:latin typeface="Arial"/>
                <a:ea typeface="Arial"/>
                <a:cs typeface="Arial"/>
                <a:sym typeface="Arial"/>
              </a:rPr>
              <a:t>VISUAL IDENTITY  ·  PROJECT NOSH</a:t>
            </a:r>
            <a:endParaRPr sz="1100" b="0" i="0" u="none" strike="noStrike" cap="none">
              <a:solidFill>
                <a:schemeClr val="dk1"/>
              </a:solidFill>
              <a:latin typeface="Calibri"/>
              <a:ea typeface="Calibri"/>
              <a:cs typeface="Calibri"/>
              <a:sym typeface="Calibri"/>
            </a:endParaRPr>
          </a:p>
        </p:txBody>
      </p:sp>
      <p:sp>
        <p:nvSpPr>
          <p:cNvPr id="80" name="Google Shape;80;p6"/>
          <p:cNvSpPr/>
          <p:nvPr/>
        </p:nvSpPr>
        <p:spPr>
          <a:xfrm>
            <a:off x="685800" y="749808"/>
            <a:ext cx="73152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3800"/>
              <a:buFont typeface="Arial"/>
              <a:buNone/>
            </a:pPr>
            <a:r>
              <a:rPr lang="en-US" sz="3800" b="1" i="0" u="none" strike="noStrike" cap="none">
                <a:solidFill>
                  <a:srgbClr val="2E373E"/>
                </a:solidFill>
                <a:latin typeface="Arial"/>
                <a:ea typeface="Arial"/>
                <a:cs typeface="Arial"/>
                <a:sym typeface="Arial"/>
              </a:rPr>
              <a:t>Brand essentials</a:t>
            </a:r>
            <a:endParaRPr sz="3800" b="0" i="0" u="none" strike="noStrike" cap="none">
              <a:solidFill>
                <a:schemeClr val="dk1"/>
              </a:solidFill>
              <a:latin typeface="Calibri"/>
              <a:ea typeface="Calibri"/>
              <a:cs typeface="Calibri"/>
              <a:sym typeface="Calibri"/>
            </a:endParaRPr>
          </a:p>
        </p:txBody>
      </p:sp>
      <p:sp>
        <p:nvSpPr>
          <p:cNvPr id="81" name="Google Shape;81;p6"/>
          <p:cNvSpPr/>
          <p:nvPr/>
        </p:nvSpPr>
        <p:spPr>
          <a:xfrm>
            <a:off x="685800" y="1691640"/>
            <a:ext cx="338328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600"/>
              <a:buFont typeface="Arial"/>
              <a:buNone/>
            </a:pPr>
            <a:r>
              <a:rPr lang="en-US" sz="1600" b="1" i="0" u="none" strike="noStrike" cap="none">
                <a:solidFill>
                  <a:srgbClr val="2E373E"/>
                </a:solidFill>
                <a:latin typeface="Arial"/>
                <a:ea typeface="Arial"/>
                <a:cs typeface="Arial"/>
                <a:sym typeface="Arial"/>
              </a:rPr>
              <a:t>Logo</a:t>
            </a:r>
            <a:endParaRPr sz="1600" b="0" i="0" u="none" strike="noStrike" cap="none">
              <a:solidFill>
                <a:schemeClr val="dk1"/>
              </a:solidFill>
              <a:latin typeface="Calibri"/>
              <a:ea typeface="Calibri"/>
              <a:cs typeface="Calibri"/>
              <a:sym typeface="Calibri"/>
            </a:endParaRPr>
          </a:p>
        </p:txBody>
      </p:sp>
      <p:sp>
        <p:nvSpPr>
          <p:cNvPr id="82" name="Google Shape;82;p6"/>
          <p:cNvSpPr/>
          <p:nvPr/>
        </p:nvSpPr>
        <p:spPr>
          <a:xfrm>
            <a:off x="685800" y="2103120"/>
            <a:ext cx="3383280" cy="2651760"/>
          </a:xfrm>
          <a:prstGeom prst="roundRect">
            <a:avLst>
              <a:gd name="adj" fmla="val 3448"/>
            </a:avLst>
          </a:prstGeom>
          <a:solidFill>
            <a:srgbClr val="2E373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3" name="Google Shape;83;p6" descr="real-mark.png"/>
          <p:cNvPicPr preferRelativeResize="0"/>
          <p:nvPr/>
        </p:nvPicPr>
        <p:blipFill rotWithShape="1">
          <a:blip r:embed="rId3">
            <a:alphaModFix/>
          </a:blip>
          <a:srcRect/>
          <a:stretch/>
        </p:blipFill>
        <p:spPr>
          <a:xfrm>
            <a:off x="1764792" y="2240280"/>
            <a:ext cx="1234440" cy="1371600"/>
          </a:xfrm>
          <a:prstGeom prst="rect">
            <a:avLst/>
          </a:prstGeom>
          <a:noFill/>
          <a:ln>
            <a:noFill/>
          </a:ln>
        </p:spPr>
      </p:pic>
      <p:pic>
        <p:nvPicPr>
          <p:cNvPr id="84" name="Google Shape;84;p6" descr="real-wordmark.png"/>
          <p:cNvPicPr preferRelativeResize="0"/>
          <p:nvPr/>
        </p:nvPicPr>
        <p:blipFill rotWithShape="1">
          <a:blip r:embed="rId4">
            <a:alphaModFix/>
          </a:blip>
          <a:srcRect/>
          <a:stretch/>
        </p:blipFill>
        <p:spPr>
          <a:xfrm>
            <a:off x="1325880" y="3749040"/>
            <a:ext cx="2103120" cy="795528"/>
          </a:xfrm>
          <a:prstGeom prst="rect">
            <a:avLst/>
          </a:prstGeom>
          <a:noFill/>
          <a:ln>
            <a:noFill/>
          </a:ln>
        </p:spPr>
      </p:pic>
      <p:sp>
        <p:nvSpPr>
          <p:cNvPr id="85" name="Google Shape;85;p6"/>
          <p:cNvSpPr/>
          <p:nvPr/>
        </p:nvSpPr>
        <p:spPr>
          <a:xfrm>
            <a:off x="685800" y="4983480"/>
            <a:ext cx="3383280" cy="1371600"/>
          </a:xfrm>
          <a:prstGeom prst="rect">
            <a:avLst/>
          </a:prstGeom>
          <a:noFill/>
          <a:ln>
            <a:noFill/>
          </a:ln>
        </p:spPr>
        <p:txBody>
          <a:bodyPr spcFirstLastPara="1" wrap="square" lIns="0" tIns="0" rIns="0" bIns="0" anchor="t" anchorCtr="0">
            <a:noAutofit/>
          </a:bodyPr>
          <a:lstStyle/>
          <a:p>
            <a:pPr marL="342900" marR="0" lvl="0" indent="-342900" algn="l" rtl="0">
              <a:lnSpc>
                <a:spcPct val="136363"/>
              </a:lnSpc>
              <a:spcBef>
                <a:spcPts val="0"/>
              </a:spcBef>
              <a:spcAft>
                <a:spcPts val="0"/>
              </a:spcAft>
              <a:buClr>
                <a:srgbClr val="4A555F"/>
              </a:buClr>
              <a:buSzPts val="1100"/>
              <a:buFont typeface="Arial"/>
              <a:buChar char="•"/>
            </a:pPr>
            <a:r>
              <a:rPr lang="en-US" sz="1100" b="0" i="0" u="none" strike="noStrike" cap="none">
                <a:solidFill>
                  <a:srgbClr val="4A555F"/>
                </a:solidFill>
                <a:latin typeface="Arial"/>
                <a:ea typeface="Arial"/>
                <a:cs typeface="Arial"/>
                <a:sym typeface="Arial"/>
              </a:rPr>
              <a:t>Use on Nosh Charcoal or white backgrounds.</a:t>
            </a:r>
            <a:endParaRPr sz="1100" b="0" i="0" u="none" strike="noStrike" cap="none">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4A555F"/>
              </a:buClr>
              <a:buSzPts val="1100"/>
              <a:buFont typeface="Arial"/>
              <a:buChar char="•"/>
            </a:pPr>
            <a:r>
              <a:rPr lang="en-US" sz="1100" b="0" i="0" u="none" strike="noStrike" cap="none">
                <a:solidFill>
                  <a:srgbClr val="4A555F"/>
                </a:solidFill>
                <a:latin typeface="Arial"/>
                <a:ea typeface="Arial"/>
                <a:cs typeface="Arial"/>
                <a:sym typeface="Arial"/>
              </a:rPr>
              <a:t>Keep clear space around the mark — at least the width of the “O”.</a:t>
            </a:r>
            <a:endParaRPr sz="1100" b="0" i="0" u="none" strike="noStrike" cap="none">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4A555F"/>
              </a:buClr>
              <a:buSzPts val="1100"/>
              <a:buFont typeface="Arial"/>
              <a:buChar char="•"/>
            </a:pPr>
            <a:r>
              <a:rPr lang="en-US" sz="1100" b="0" i="0" u="none" strike="noStrike" cap="none">
                <a:solidFill>
                  <a:srgbClr val="4A555F"/>
                </a:solidFill>
                <a:latin typeface="Arial"/>
                <a:ea typeface="Arial"/>
                <a:cs typeface="Arial"/>
                <a:sym typeface="Arial"/>
              </a:rPr>
              <a:t>Never recolour, stretch, rotate or add effects.</a:t>
            </a:r>
            <a:endParaRPr sz="1100" b="0" i="0" u="none" strike="noStrike" cap="none">
              <a:solidFill>
                <a:schemeClr val="dk1"/>
              </a:solidFill>
              <a:latin typeface="Calibri"/>
              <a:ea typeface="Calibri"/>
              <a:cs typeface="Calibri"/>
              <a:sym typeface="Calibri"/>
            </a:endParaRPr>
          </a:p>
        </p:txBody>
      </p:sp>
      <p:sp>
        <p:nvSpPr>
          <p:cNvPr id="86" name="Google Shape;86;p6"/>
          <p:cNvSpPr/>
          <p:nvPr/>
        </p:nvSpPr>
        <p:spPr>
          <a:xfrm>
            <a:off x="4526280" y="1691640"/>
            <a:ext cx="329184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600"/>
              <a:buFont typeface="Arial"/>
              <a:buNone/>
            </a:pPr>
            <a:r>
              <a:rPr lang="en-US" sz="1600" b="1" i="0" u="none" strike="noStrike" cap="none">
                <a:solidFill>
                  <a:srgbClr val="2E373E"/>
                </a:solidFill>
                <a:latin typeface="Arial"/>
                <a:ea typeface="Arial"/>
                <a:cs typeface="Arial"/>
                <a:sym typeface="Arial"/>
              </a:rPr>
              <a:t>Colour</a:t>
            </a:r>
            <a:endParaRPr sz="1600" b="0" i="0" u="none" strike="noStrike" cap="none">
              <a:solidFill>
                <a:schemeClr val="dk1"/>
              </a:solidFill>
              <a:latin typeface="Calibri"/>
              <a:ea typeface="Calibri"/>
              <a:cs typeface="Calibri"/>
              <a:sym typeface="Calibri"/>
            </a:endParaRPr>
          </a:p>
        </p:txBody>
      </p:sp>
      <p:sp>
        <p:nvSpPr>
          <p:cNvPr id="87" name="Google Shape;87;p6"/>
          <p:cNvSpPr/>
          <p:nvPr/>
        </p:nvSpPr>
        <p:spPr>
          <a:xfrm>
            <a:off x="4526280" y="2103120"/>
            <a:ext cx="420624" cy="420624"/>
          </a:xfrm>
          <a:prstGeom prst="roundRect">
            <a:avLst>
              <a:gd name="adj" fmla="val 17391"/>
            </a:avLst>
          </a:prstGeom>
          <a:solidFill>
            <a:srgbClr val="62CC9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
          <p:cNvSpPr/>
          <p:nvPr/>
        </p:nvSpPr>
        <p:spPr>
          <a:xfrm>
            <a:off x="5074920" y="2084832"/>
            <a:ext cx="28346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200"/>
              <a:buFont typeface="Arial"/>
              <a:buNone/>
            </a:pPr>
            <a:r>
              <a:rPr lang="en-US" sz="1200" b="1" i="0" u="none" strike="noStrike" cap="none">
                <a:solidFill>
                  <a:srgbClr val="2E373E"/>
                </a:solidFill>
                <a:latin typeface="Arial"/>
                <a:ea typeface="Arial"/>
                <a:cs typeface="Arial"/>
                <a:sym typeface="Arial"/>
              </a:rPr>
              <a:t>Nosh Green   </a:t>
            </a:r>
            <a:r>
              <a:rPr lang="en-US" sz="1000" b="0" i="1" u="none" strike="noStrike" cap="none">
                <a:solidFill>
                  <a:srgbClr val="8A949C"/>
                </a:solidFill>
                <a:latin typeface="Arial"/>
                <a:ea typeface="Arial"/>
                <a:cs typeface="Arial"/>
                <a:sym typeface="Arial"/>
              </a:rPr>
              <a:t>primary</a:t>
            </a:r>
            <a:endParaRPr sz="1200" b="0" i="0" u="none" strike="noStrike" cap="none">
              <a:solidFill>
                <a:schemeClr val="dk1"/>
              </a:solidFill>
              <a:latin typeface="Calibri"/>
              <a:ea typeface="Calibri"/>
              <a:cs typeface="Calibri"/>
              <a:sym typeface="Calibri"/>
            </a:endParaRPr>
          </a:p>
        </p:txBody>
      </p:sp>
      <p:sp>
        <p:nvSpPr>
          <p:cNvPr id="89" name="Google Shape;89;p6"/>
          <p:cNvSpPr/>
          <p:nvPr/>
        </p:nvSpPr>
        <p:spPr>
          <a:xfrm>
            <a:off x="5074920" y="2304288"/>
            <a:ext cx="283464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757F"/>
              </a:buClr>
              <a:buSzPts val="1000"/>
              <a:buFont typeface="Courier New"/>
              <a:buNone/>
            </a:pPr>
            <a:r>
              <a:rPr lang="en-US" sz="1000" b="0" i="0" u="none" strike="noStrike" cap="none">
                <a:solidFill>
                  <a:srgbClr val="6A757F"/>
                </a:solidFill>
                <a:latin typeface="Courier New"/>
                <a:ea typeface="Courier New"/>
                <a:cs typeface="Courier New"/>
                <a:sym typeface="Courier New"/>
              </a:rPr>
              <a:t>#62CC9B</a:t>
            </a:r>
            <a:endParaRPr sz="1000" b="0" i="0" u="none" strike="noStrike" cap="none">
              <a:solidFill>
                <a:schemeClr val="dk1"/>
              </a:solidFill>
              <a:latin typeface="Calibri"/>
              <a:ea typeface="Calibri"/>
              <a:cs typeface="Calibri"/>
              <a:sym typeface="Calibri"/>
            </a:endParaRPr>
          </a:p>
        </p:txBody>
      </p:sp>
      <p:sp>
        <p:nvSpPr>
          <p:cNvPr id="90" name="Google Shape;90;p6"/>
          <p:cNvSpPr/>
          <p:nvPr/>
        </p:nvSpPr>
        <p:spPr>
          <a:xfrm>
            <a:off x="4526280" y="2651760"/>
            <a:ext cx="420624" cy="420624"/>
          </a:xfrm>
          <a:prstGeom prst="roundRect">
            <a:avLst>
              <a:gd name="adj" fmla="val 17391"/>
            </a:avLst>
          </a:prstGeom>
          <a:solidFill>
            <a:srgbClr val="3AA5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6"/>
          <p:cNvSpPr/>
          <p:nvPr/>
        </p:nvSpPr>
        <p:spPr>
          <a:xfrm>
            <a:off x="5074920" y="2633472"/>
            <a:ext cx="28346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200"/>
              <a:buFont typeface="Arial"/>
              <a:buNone/>
            </a:pPr>
            <a:r>
              <a:rPr lang="en-US" sz="1200" b="1" i="0" u="none" strike="noStrike" cap="none">
                <a:solidFill>
                  <a:srgbClr val="2E373E"/>
                </a:solidFill>
                <a:latin typeface="Arial"/>
                <a:ea typeface="Arial"/>
                <a:cs typeface="Arial"/>
                <a:sym typeface="Arial"/>
              </a:rPr>
              <a:t>Deep Teal   </a:t>
            </a:r>
            <a:r>
              <a:rPr lang="en-US" sz="1000" b="0" i="1" u="none" strike="noStrike" cap="none">
                <a:solidFill>
                  <a:srgbClr val="8A949C"/>
                </a:solidFill>
                <a:latin typeface="Arial"/>
                <a:ea typeface="Arial"/>
                <a:cs typeface="Arial"/>
                <a:sym typeface="Arial"/>
              </a:rPr>
              <a:t>secondary</a:t>
            </a:r>
            <a:endParaRPr sz="1200" b="0" i="0" u="none" strike="noStrike" cap="none">
              <a:solidFill>
                <a:schemeClr val="dk1"/>
              </a:solidFill>
              <a:latin typeface="Calibri"/>
              <a:ea typeface="Calibri"/>
              <a:cs typeface="Calibri"/>
              <a:sym typeface="Calibri"/>
            </a:endParaRPr>
          </a:p>
        </p:txBody>
      </p:sp>
      <p:sp>
        <p:nvSpPr>
          <p:cNvPr id="92" name="Google Shape;92;p6"/>
          <p:cNvSpPr/>
          <p:nvPr/>
        </p:nvSpPr>
        <p:spPr>
          <a:xfrm>
            <a:off x="5074920" y="2852928"/>
            <a:ext cx="283464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757F"/>
              </a:buClr>
              <a:buSzPts val="1000"/>
              <a:buFont typeface="Courier New"/>
              <a:buNone/>
            </a:pPr>
            <a:r>
              <a:rPr lang="en-US" sz="1000" b="0" i="0" u="none" strike="noStrike" cap="none">
                <a:solidFill>
                  <a:srgbClr val="6A757F"/>
                </a:solidFill>
                <a:latin typeface="Courier New"/>
                <a:ea typeface="Courier New"/>
                <a:cs typeface="Courier New"/>
                <a:sym typeface="Courier New"/>
              </a:rPr>
              <a:t>#3AA58F</a:t>
            </a:r>
            <a:endParaRPr sz="1000" b="0" i="0" u="none" strike="noStrike" cap="none">
              <a:solidFill>
                <a:schemeClr val="dk1"/>
              </a:solidFill>
              <a:latin typeface="Calibri"/>
              <a:ea typeface="Calibri"/>
              <a:cs typeface="Calibri"/>
              <a:sym typeface="Calibri"/>
            </a:endParaRPr>
          </a:p>
        </p:txBody>
      </p:sp>
      <p:sp>
        <p:nvSpPr>
          <p:cNvPr id="93" name="Google Shape;93;p6"/>
          <p:cNvSpPr/>
          <p:nvPr/>
        </p:nvSpPr>
        <p:spPr>
          <a:xfrm>
            <a:off x="4526280" y="3200400"/>
            <a:ext cx="420624" cy="420624"/>
          </a:xfrm>
          <a:prstGeom prst="roundRect">
            <a:avLst>
              <a:gd name="adj" fmla="val 17391"/>
            </a:avLst>
          </a:prstGeom>
          <a:solidFill>
            <a:srgbClr val="2E373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6"/>
          <p:cNvSpPr/>
          <p:nvPr/>
        </p:nvSpPr>
        <p:spPr>
          <a:xfrm>
            <a:off x="5074920" y="3182112"/>
            <a:ext cx="28346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200"/>
              <a:buFont typeface="Arial"/>
              <a:buNone/>
            </a:pPr>
            <a:r>
              <a:rPr lang="en-US" sz="1200" b="1" i="0" u="none" strike="noStrike" cap="none">
                <a:solidFill>
                  <a:srgbClr val="2E373E"/>
                </a:solidFill>
                <a:latin typeface="Arial"/>
                <a:ea typeface="Arial"/>
                <a:cs typeface="Arial"/>
                <a:sym typeface="Arial"/>
              </a:rPr>
              <a:t>Nosh Charcoal   </a:t>
            </a:r>
            <a:r>
              <a:rPr lang="en-US" sz="1000" b="0" i="1" u="none" strike="noStrike" cap="none">
                <a:solidFill>
                  <a:srgbClr val="8A949C"/>
                </a:solidFill>
                <a:latin typeface="Arial"/>
                <a:ea typeface="Arial"/>
                <a:cs typeface="Arial"/>
                <a:sym typeface="Arial"/>
              </a:rPr>
              <a:t>backgrounds / text</a:t>
            </a:r>
            <a:endParaRPr sz="1200" b="0" i="0" u="none" strike="noStrike" cap="none">
              <a:solidFill>
                <a:schemeClr val="dk1"/>
              </a:solidFill>
              <a:latin typeface="Calibri"/>
              <a:ea typeface="Calibri"/>
              <a:cs typeface="Calibri"/>
              <a:sym typeface="Calibri"/>
            </a:endParaRPr>
          </a:p>
        </p:txBody>
      </p:sp>
      <p:sp>
        <p:nvSpPr>
          <p:cNvPr id="95" name="Google Shape;95;p6"/>
          <p:cNvSpPr/>
          <p:nvPr/>
        </p:nvSpPr>
        <p:spPr>
          <a:xfrm>
            <a:off x="5074920" y="3401568"/>
            <a:ext cx="283464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757F"/>
              </a:buClr>
              <a:buSzPts val="1000"/>
              <a:buFont typeface="Courier New"/>
              <a:buNone/>
            </a:pPr>
            <a:r>
              <a:rPr lang="en-US" sz="1000" b="0" i="0" u="none" strike="noStrike" cap="none">
                <a:solidFill>
                  <a:srgbClr val="6A757F"/>
                </a:solidFill>
                <a:latin typeface="Courier New"/>
                <a:ea typeface="Courier New"/>
                <a:cs typeface="Courier New"/>
                <a:sym typeface="Courier New"/>
              </a:rPr>
              <a:t>#2E373E</a:t>
            </a:r>
            <a:endParaRPr sz="1000" b="0" i="0" u="none" strike="noStrike" cap="none">
              <a:solidFill>
                <a:schemeClr val="dk1"/>
              </a:solidFill>
              <a:latin typeface="Calibri"/>
              <a:ea typeface="Calibri"/>
              <a:cs typeface="Calibri"/>
              <a:sym typeface="Calibri"/>
            </a:endParaRPr>
          </a:p>
        </p:txBody>
      </p:sp>
      <p:sp>
        <p:nvSpPr>
          <p:cNvPr id="96" name="Google Shape;96;p6"/>
          <p:cNvSpPr/>
          <p:nvPr/>
        </p:nvSpPr>
        <p:spPr>
          <a:xfrm>
            <a:off x="4526280" y="3749040"/>
            <a:ext cx="420624" cy="420624"/>
          </a:xfrm>
          <a:prstGeom prst="roundRect">
            <a:avLst>
              <a:gd name="adj" fmla="val 17391"/>
            </a:avLst>
          </a:prstGeom>
          <a:solidFill>
            <a:srgbClr val="F3764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6"/>
          <p:cNvSpPr/>
          <p:nvPr/>
        </p:nvSpPr>
        <p:spPr>
          <a:xfrm>
            <a:off x="5074920" y="3730752"/>
            <a:ext cx="28346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200"/>
              <a:buFont typeface="Arial"/>
              <a:buNone/>
            </a:pPr>
            <a:r>
              <a:rPr lang="en-US" sz="1200" b="1" i="0" u="none" strike="noStrike" cap="none">
                <a:solidFill>
                  <a:srgbClr val="2E373E"/>
                </a:solidFill>
                <a:latin typeface="Arial"/>
                <a:ea typeface="Arial"/>
                <a:cs typeface="Arial"/>
                <a:sym typeface="Arial"/>
              </a:rPr>
              <a:t>Flame Coral   </a:t>
            </a:r>
            <a:r>
              <a:rPr lang="en-US" sz="1000" b="0" i="1" u="none" strike="noStrike" cap="none">
                <a:solidFill>
                  <a:srgbClr val="8A949C"/>
                </a:solidFill>
                <a:latin typeface="Arial"/>
                <a:ea typeface="Arial"/>
                <a:cs typeface="Arial"/>
                <a:sym typeface="Arial"/>
              </a:rPr>
              <a:t>accent</a:t>
            </a:r>
            <a:endParaRPr sz="1200" b="0" i="0" u="none" strike="noStrike" cap="none">
              <a:solidFill>
                <a:schemeClr val="dk1"/>
              </a:solidFill>
              <a:latin typeface="Calibri"/>
              <a:ea typeface="Calibri"/>
              <a:cs typeface="Calibri"/>
              <a:sym typeface="Calibri"/>
            </a:endParaRPr>
          </a:p>
        </p:txBody>
      </p:sp>
      <p:sp>
        <p:nvSpPr>
          <p:cNvPr id="98" name="Google Shape;98;p6"/>
          <p:cNvSpPr/>
          <p:nvPr/>
        </p:nvSpPr>
        <p:spPr>
          <a:xfrm>
            <a:off x="5074920" y="3950208"/>
            <a:ext cx="283464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757F"/>
              </a:buClr>
              <a:buSzPts val="1000"/>
              <a:buFont typeface="Courier New"/>
              <a:buNone/>
            </a:pPr>
            <a:r>
              <a:rPr lang="en-US" sz="1000" b="0" i="0" u="none" strike="noStrike" cap="none">
                <a:solidFill>
                  <a:srgbClr val="6A757F"/>
                </a:solidFill>
                <a:latin typeface="Courier New"/>
                <a:ea typeface="Courier New"/>
                <a:cs typeface="Courier New"/>
                <a:sym typeface="Courier New"/>
              </a:rPr>
              <a:t>#F3764B</a:t>
            </a:r>
            <a:endParaRPr sz="1000" b="0" i="0" u="none" strike="noStrike" cap="none">
              <a:solidFill>
                <a:schemeClr val="dk1"/>
              </a:solidFill>
              <a:latin typeface="Calibri"/>
              <a:ea typeface="Calibri"/>
              <a:cs typeface="Calibri"/>
              <a:sym typeface="Calibri"/>
            </a:endParaRPr>
          </a:p>
        </p:txBody>
      </p:sp>
      <p:sp>
        <p:nvSpPr>
          <p:cNvPr id="99" name="Google Shape;99;p6"/>
          <p:cNvSpPr/>
          <p:nvPr/>
        </p:nvSpPr>
        <p:spPr>
          <a:xfrm>
            <a:off x="4526280" y="4297680"/>
            <a:ext cx="420624" cy="420624"/>
          </a:xfrm>
          <a:prstGeom prst="roundRect">
            <a:avLst>
              <a:gd name="adj" fmla="val 17391"/>
            </a:avLst>
          </a:prstGeom>
          <a:solidFill>
            <a:srgbClr val="D5C5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6"/>
          <p:cNvSpPr/>
          <p:nvPr/>
        </p:nvSpPr>
        <p:spPr>
          <a:xfrm>
            <a:off x="5074920" y="4279392"/>
            <a:ext cx="28346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200"/>
              <a:buFont typeface="Arial"/>
              <a:buNone/>
            </a:pPr>
            <a:r>
              <a:rPr lang="en-US" sz="1200" b="1" i="0" u="none" strike="noStrike" cap="none">
                <a:solidFill>
                  <a:srgbClr val="2E373E"/>
                </a:solidFill>
                <a:latin typeface="Arial"/>
                <a:ea typeface="Arial"/>
                <a:cs typeface="Arial"/>
                <a:sym typeface="Arial"/>
              </a:rPr>
              <a:t>Leaf   </a:t>
            </a:r>
            <a:r>
              <a:rPr lang="en-US" sz="1000" b="0" i="1" u="none" strike="noStrike" cap="none">
                <a:solidFill>
                  <a:srgbClr val="8A949C"/>
                </a:solidFill>
                <a:latin typeface="Arial"/>
                <a:ea typeface="Arial"/>
                <a:cs typeface="Arial"/>
                <a:sym typeface="Arial"/>
              </a:rPr>
              <a:t>accent</a:t>
            </a:r>
            <a:endParaRPr sz="1200" b="0" i="0" u="none" strike="noStrike" cap="none">
              <a:solidFill>
                <a:schemeClr val="dk1"/>
              </a:solidFill>
              <a:latin typeface="Calibri"/>
              <a:ea typeface="Calibri"/>
              <a:cs typeface="Calibri"/>
              <a:sym typeface="Calibri"/>
            </a:endParaRPr>
          </a:p>
        </p:txBody>
      </p:sp>
      <p:sp>
        <p:nvSpPr>
          <p:cNvPr id="101" name="Google Shape;101;p6"/>
          <p:cNvSpPr/>
          <p:nvPr/>
        </p:nvSpPr>
        <p:spPr>
          <a:xfrm>
            <a:off x="5074920" y="4498848"/>
            <a:ext cx="283464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757F"/>
              </a:buClr>
              <a:buSzPts val="1000"/>
              <a:buFont typeface="Courier New"/>
              <a:buNone/>
            </a:pPr>
            <a:r>
              <a:rPr lang="en-US" sz="1000" b="0" i="0" u="none" strike="noStrike" cap="none">
                <a:solidFill>
                  <a:srgbClr val="6A757F"/>
                </a:solidFill>
                <a:latin typeface="Courier New"/>
                <a:ea typeface="Courier New"/>
                <a:cs typeface="Courier New"/>
                <a:sym typeface="Courier New"/>
              </a:rPr>
              <a:t>#D5C52D</a:t>
            </a:r>
            <a:endParaRPr sz="1000" b="0" i="0" u="none" strike="noStrike" cap="none">
              <a:solidFill>
                <a:schemeClr val="dk1"/>
              </a:solidFill>
              <a:latin typeface="Calibri"/>
              <a:ea typeface="Calibri"/>
              <a:cs typeface="Calibri"/>
              <a:sym typeface="Calibri"/>
            </a:endParaRPr>
          </a:p>
        </p:txBody>
      </p:sp>
      <p:sp>
        <p:nvSpPr>
          <p:cNvPr id="102" name="Google Shape;102;p6"/>
          <p:cNvSpPr/>
          <p:nvPr/>
        </p:nvSpPr>
        <p:spPr>
          <a:xfrm>
            <a:off x="4526280" y="4846320"/>
            <a:ext cx="420624" cy="420624"/>
          </a:xfrm>
          <a:prstGeom prst="roundRect">
            <a:avLst>
              <a:gd name="adj" fmla="val 17391"/>
            </a:avLst>
          </a:prstGeom>
          <a:solidFill>
            <a:srgbClr val="B7BFC0"/>
          </a:solidFill>
          <a:ln w="9525" cap="flat" cmpd="sng">
            <a:solidFill>
              <a:srgbClr val="D8DCE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6"/>
          <p:cNvSpPr/>
          <p:nvPr/>
        </p:nvSpPr>
        <p:spPr>
          <a:xfrm>
            <a:off x="5074920" y="4828032"/>
            <a:ext cx="28346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200"/>
              <a:buFont typeface="Arial"/>
              <a:buNone/>
            </a:pPr>
            <a:r>
              <a:rPr lang="en-US" sz="1200" b="1" i="0" u="none" strike="noStrike" cap="none">
                <a:solidFill>
                  <a:srgbClr val="2E373E"/>
                </a:solidFill>
                <a:latin typeface="Arial"/>
                <a:ea typeface="Arial"/>
                <a:cs typeface="Arial"/>
                <a:sym typeface="Arial"/>
              </a:rPr>
              <a:t>Cloud Grey   </a:t>
            </a:r>
            <a:r>
              <a:rPr lang="en-US" sz="1000" b="0" i="1" u="none" strike="noStrike" cap="none">
                <a:solidFill>
                  <a:srgbClr val="8A949C"/>
                </a:solidFill>
                <a:latin typeface="Arial"/>
                <a:ea typeface="Arial"/>
                <a:cs typeface="Arial"/>
                <a:sym typeface="Arial"/>
              </a:rPr>
              <a:t>muted text on dark</a:t>
            </a:r>
            <a:endParaRPr sz="1200" b="0" i="0" u="none" strike="noStrike" cap="none">
              <a:solidFill>
                <a:schemeClr val="dk1"/>
              </a:solidFill>
              <a:latin typeface="Calibri"/>
              <a:ea typeface="Calibri"/>
              <a:cs typeface="Calibri"/>
              <a:sym typeface="Calibri"/>
            </a:endParaRPr>
          </a:p>
        </p:txBody>
      </p:sp>
      <p:sp>
        <p:nvSpPr>
          <p:cNvPr id="104" name="Google Shape;104;p6"/>
          <p:cNvSpPr/>
          <p:nvPr/>
        </p:nvSpPr>
        <p:spPr>
          <a:xfrm>
            <a:off x="5074920" y="5047488"/>
            <a:ext cx="283464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757F"/>
              </a:buClr>
              <a:buSzPts val="1000"/>
              <a:buFont typeface="Courier New"/>
              <a:buNone/>
            </a:pPr>
            <a:r>
              <a:rPr lang="en-US" sz="1000" b="0" i="0" u="none" strike="noStrike" cap="none">
                <a:solidFill>
                  <a:srgbClr val="6A757F"/>
                </a:solidFill>
                <a:latin typeface="Courier New"/>
                <a:ea typeface="Courier New"/>
                <a:cs typeface="Courier New"/>
                <a:sym typeface="Courier New"/>
              </a:rPr>
              <a:t>#B7BFC0</a:t>
            </a:r>
            <a:endParaRPr sz="1000" b="0" i="0" u="none" strike="noStrike" cap="none">
              <a:solidFill>
                <a:schemeClr val="dk1"/>
              </a:solidFill>
              <a:latin typeface="Calibri"/>
              <a:ea typeface="Calibri"/>
              <a:cs typeface="Calibri"/>
              <a:sym typeface="Calibri"/>
            </a:endParaRPr>
          </a:p>
        </p:txBody>
      </p:sp>
      <p:sp>
        <p:nvSpPr>
          <p:cNvPr id="105" name="Google Shape;105;p6"/>
          <p:cNvSpPr/>
          <p:nvPr/>
        </p:nvSpPr>
        <p:spPr>
          <a:xfrm>
            <a:off x="4526280" y="5806440"/>
            <a:ext cx="3337560" cy="54864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6A757F"/>
              </a:buClr>
              <a:buSzPts val="1050"/>
              <a:buFont typeface="Arial"/>
              <a:buNone/>
            </a:pPr>
            <a:r>
              <a:rPr lang="en-US" sz="1050" b="0" i="1" u="none" strike="noStrike" cap="none">
                <a:solidFill>
                  <a:srgbClr val="6A757F"/>
                </a:solidFill>
                <a:latin typeface="Arial"/>
                <a:ea typeface="Arial"/>
                <a:cs typeface="Arial"/>
                <a:sym typeface="Arial"/>
              </a:rPr>
              <a:t>Nosh Green leads. Teal and charcoal support. Flame and leaf are small accents — highlights, badges, warnings.</a:t>
            </a:r>
            <a:endParaRPr sz="1050" b="0" i="0" u="none" strike="noStrike" cap="none">
              <a:solidFill>
                <a:schemeClr val="dk1"/>
              </a:solidFill>
              <a:latin typeface="Calibri"/>
              <a:ea typeface="Calibri"/>
              <a:cs typeface="Calibri"/>
              <a:sym typeface="Calibri"/>
            </a:endParaRPr>
          </a:p>
        </p:txBody>
      </p:sp>
      <p:sp>
        <p:nvSpPr>
          <p:cNvPr id="106" name="Google Shape;106;p6"/>
          <p:cNvSpPr/>
          <p:nvPr/>
        </p:nvSpPr>
        <p:spPr>
          <a:xfrm>
            <a:off x="8321040" y="1691640"/>
            <a:ext cx="32004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600"/>
              <a:buFont typeface="Arial"/>
              <a:buNone/>
            </a:pPr>
            <a:r>
              <a:rPr lang="en-US" sz="1600" b="1" i="0" u="none" strike="noStrike" cap="none">
                <a:solidFill>
                  <a:srgbClr val="2E373E"/>
                </a:solidFill>
                <a:latin typeface="Arial"/>
                <a:ea typeface="Arial"/>
                <a:cs typeface="Arial"/>
                <a:sym typeface="Arial"/>
              </a:rPr>
              <a:t>Typography</a:t>
            </a:r>
            <a:endParaRPr sz="1600" b="0" i="0" u="none" strike="noStrike" cap="none">
              <a:solidFill>
                <a:schemeClr val="dk1"/>
              </a:solidFill>
              <a:latin typeface="Calibri"/>
              <a:ea typeface="Calibri"/>
              <a:cs typeface="Calibri"/>
              <a:sym typeface="Calibri"/>
            </a:endParaRPr>
          </a:p>
        </p:txBody>
      </p:sp>
      <p:sp>
        <p:nvSpPr>
          <p:cNvPr id="107" name="Google Shape;107;p6"/>
          <p:cNvSpPr/>
          <p:nvPr/>
        </p:nvSpPr>
        <p:spPr>
          <a:xfrm>
            <a:off x="8321040" y="2103120"/>
            <a:ext cx="3200400" cy="1188720"/>
          </a:xfrm>
          <a:prstGeom prst="roundRect">
            <a:avLst>
              <a:gd name="adj" fmla="val 7692"/>
            </a:avLst>
          </a:prstGeom>
          <a:solidFill>
            <a:srgbClr val="F2F6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6"/>
          <p:cNvSpPr/>
          <p:nvPr/>
        </p:nvSpPr>
        <p:spPr>
          <a:xfrm>
            <a:off x="8549640" y="2240280"/>
            <a:ext cx="27432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AA58F"/>
              </a:buClr>
              <a:buSzPts val="2800"/>
              <a:buFont typeface="Nunito"/>
              <a:buNone/>
            </a:pPr>
            <a:r>
              <a:rPr lang="en-US" sz="2800" b="1" i="0" u="none" strike="noStrike" cap="none">
                <a:solidFill>
                  <a:srgbClr val="3AA58F"/>
                </a:solidFill>
                <a:latin typeface="Nunito"/>
                <a:ea typeface="Nunito"/>
                <a:cs typeface="Nunito"/>
                <a:sym typeface="Nunito"/>
              </a:rPr>
              <a:t>Aa Nosh</a:t>
            </a:r>
            <a:endParaRPr sz="2800" b="0" i="0" u="none" strike="noStrike" cap="none">
              <a:solidFill>
                <a:schemeClr val="dk1"/>
              </a:solidFill>
              <a:latin typeface="Calibri"/>
              <a:ea typeface="Calibri"/>
              <a:cs typeface="Calibri"/>
              <a:sym typeface="Calibri"/>
            </a:endParaRPr>
          </a:p>
        </p:txBody>
      </p:sp>
      <p:sp>
        <p:nvSpPr>
          <p:cNvPr id="109" name="Google Shape;109;p6"/>
          <p:cNvSpPr/>
          <p:nvPr/>
        </p:nvSpPr>
        <p:spPr>
          <a:xfrm>
            <a:off x="8549640" y="2834640"/>
            <a:ext cx="283464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A757F"/>
              </a:buClr>
              <a:buSzPts val="1000"/>
              <a:buFont typeface="Arial"/>
              <a:buNone/>
            </a:pPr>
            <a:r>
              <a:rPr lang="en-US" sz="1000" b="0" i="0" u="none" strike="noStrike" cap="none">
                <a:solidFill>
                  <a:srgbClr val="6A757F"/>
                </a:solidFill>
                <a:latin typeface="Arial"/>
                <a:ea typeface="Arial"/>
                <a:cs typeface="Arial"/>
                <a:sym typeface="Arial"/>
              </a:rPr>
              <a:t>Nunito — rounded, friendly, free on Google Fonts</a:t>
            </a:r>
            <a:endParaRPr sz="1000" b="0" i="0" u="none" strike="noStrike" cap="none">
              <a:solidFill>
                <a:schemeClr val="dk1"/>
              </a:solidFill>
              <a:latin typeface="Calibri"/>
              <a:ea typeface="Calibri"/>
              <a:cs typeface="Calibri"/>
              <a:sym typeface="Calibri"/>
            </a:endParaRPr>
          </a:p>
        </p:txBody>
      </p:sp>
      <p:sp>
        <p:nvSpPr>
          <p:cNvPr id="110" name="Google Shape;110;p6"/>
          <p:cNvSpPr/>
          <p:nvPr/>
        </p:nvSpPr>
        <p:spPr>
          <a:xfrm>
            <a:off x="8321040" y="3474720"/>
            <a:ext cx="3200400"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A555F"/>
              </a:buClr>
              <a:buSzPts val="1100"/>
              <a:buFont typeface="Arial"/>
              <a:buNone/>
            </a:pPr>
            <a:r>
              <a:rPr lang="en-US" sz="1100" b="1" i="0" u="none" strike="noStrike" cap="none">
                <a:solidFill>
                  <a:srgbClr val="4A555F"/>
                </a:solidFill>
                <a:latin typeface="Arial"/>
                <a:ea typeface="Arial"/>
                <a:cs typeface="Arial"/>
                <a:sym typeface="Arial"/>
              </a:rPr>
              <a:t>Headings:  </a:t>
            </a:r>
            <a:r>
              <a:rPr lang="en-US" sz="1100" b="0" i="0" u="none" strike="noStrike" cap="none">
                <a:solidFill>
                  <a:srgbClr val="4A555F"/>
                </a:solidFill>
                <a:latin typeface="Arial"/>
                <a:ea typeface="Arial"/>
                <a:cs typeface="Arial"/>
                <a:sym typeface="Arial"/>
              </a:rPr>
              <a:t>Nunito Bold (fallback Arial)</a:t>
            </a:r>
            <a:endParaRPr sz="1100" b="0" i="0" u="none" strike="noStrike" cap="none">
              <a:solidFill>
                <a:schemeClr val="dk1"/>
              </a:solidFill>
              <a:latin typeface="Calibri"/>
              <a:ea typeface="Calibri"/>
              <a:cs typeface="Calibri"/>
              <a:sym typeface="Calibri"/>
            </a:endParaRPr>
          </a:p>
        </p:txBody>
      </p:sp>
      <p:sp>
        <p:nvSpPr>
          <p:cNvPr id="111" name="Google Shape;111;p6"/>
          <p:cNvSpPr/>
          <p:nvPr/>
        </p:nvSpPr>
        <p:spPr>
          <a:xfrm>
            <a:off x="8321040" y="3749040"/>
            <a:ext cx="3200400"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A555F"/>
              </a:buClr>
              <a:buSzPts val="1100"/>
              <a:buFont typeface="Arial"/>
              <a:buNone/>
            </a:pPr>
            <a:r>
              <a:rPr lang="en-US" sz="1100" b="1" i="0" u="none" strike="noStrike" cap="none">
                <a:solidFill>
                  <a:srgbClr val="4A555F"/>
                </a:solidFill>
                <a:latin typeface="Arial"/>
                <a:ea typeface="Arial"/>
                <a:cs typeface="Arial"/>
                <a:sym typeface="Arial"/>
              </a:rPr>
              <a:t>Body:  </a:t>
            </a:r>
            <a:r>
              <a:rPr lang="en-US" sz="1100" b="0" i="0" u="none" strike="noStrike" cap="none">
                <a:solidFill>
                  <a:srgbClr val="4A555F"/>
                </a:solidFill>
                <a:latin typeface="Arial"/>
                <a:ea typeface="Arial"/>
                <a:cs typeface="Arial"/>
                <a:sym typeface="Arial"/>
              </a:rPr>
              <a:t>Nunito Sans or system sans</a:t>
            </a:r>
            <a:endParaRPr sz="1100" b="0" i="0" u="none" strike="noStrike" cap="none">
              <a:solidFill>
                <a:schemeClr val="dk1"/>
              </a:solidFill>
              <a:latin typeface="Calibri"/>
              <a:ea typeface="Calibri"/>
              <a:cs typeface="Calibri"/>
              <a:sym typeface="Calibri"/>
            </a:endParaRPr>
          </a:p>
        </p:txBody>
      </p:sp>
      <p:sp>
        <p:nvSpPr>
          <p:cNvPr id="112" name="Google Shape;112;p6"/>
          <p:cNvSpPr/>
          <p:nvPr/>
        </p:nvSpPr>
        <p:spPr>
          <a:xfrm>
            <a:off x="8321040" y="4343400"/>
            <a:ext cx="32004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373E"/>
              </a:buClr>
              <a:buSzPts val="1600"/>
              <a:buFont typeface="Arial"/>
              <a:buNone/>
            </a:pPr>
            <a:r>
              <a:rPr lang="en-US" sz="1600" b="1" i="0" u="none" strike="noStrike" cap="none">
                <a:solidFill>
                  <a:srgbClr val="2E373E"/>
                </a:solidFill>
                <a:latin typeface="Arial"/>
                <a:ea typeface="Arial"/>
                <a:cs typeface="Arial"/>
                <a:sym typeface="Arial"/>
              </a:rPr>
              <a:t>Voice &amp; accessibility</a:t>
            </a:r>
            <a:endParaRPr sz="1600" b="0" i="0" u="none" strike="noStrike" cap="none">
              <a:solidFill>
                <a:schemeClr val="dk1"/>
              </a:solidFill>
              <a:latin typeface="Calibri"/>
              <a:ea typeface="Calibri"/>
              <a:cs typeface="Calibri"/>
              <a:sym typeface="Calibri"/>
            </a:endParaRPr>
          </a:p>
        </p:txBody>
      </p:sp>
      <p:sp>
        <p:nvSpPr>
          <p:cNvPr id="113" name="Google Shape;113;p6"/>
          <p:cNvSpPr/>
          <p:nvPr/>
        </p:nvSpPr>
        <p:spPr>
          <a:xfrm>
            <a:off x="8321040" y="4754880"/>
            <a:ext cx="3200400" cy="1554480"/>
          </a:xfrm>
          <a:prstGeom prst="rect">
            <a:avLst/>
          </a:prstGeom>
          <a:noFill/>
          <a:ln>
            <a:noFill/>
          </a:ln>
        </p:spPr>
        <p:txBody>
          <a:bodyPr spcFirstLastPara="1" wrap="square" lIns="0" tIns="0" rIns="0" bIns="0" anchor="t" anchorCtr="0">
            <a:noAutofit/>
          </a:bodyPr>
          <a:lstStyle/>
          <a:p>
            <a:pPr marL="342900" marR="0" lvl="0" indent="-342900" algn="l" rtl="0">
              <a:lnSpc>
                <a:spcPct val="136363"/>
              </a:lnSpc>
              <a:spcBef>
                <a:spcPts val="0"/>
              </a:spcBef>
              <a:spcAft>
                <a:spcPts val="0"/>
              </a:spcAft>
              <a:buClr>
                <a:srgbClr val="4A555F"/>
              </a:buClr>
              <a:buSzPts val="1100"/>
              <a:buFont typeface="Arial"/>
              <a:buChar char="•"/>
            </a:pPr>
            <a:r>
              <a:rPr lang="en-US" sz="1100" b="0" i="0" u="none" strike="noStrike" cap="none">
                <a:solidFill>
                  <a:srgbClr val="4A555F"/>
                </a:solidFill>
                <a:latin typeface="Arial"/>
                <a:ea typeface="Arial"/>
                <a:cs typeface="Arial"/>
                <a:sym typeface="Arial"/>
              </a:rPr>
              <a:t>Warm and practical — never preachy or judgemental about budgets.</a:t>
            </a:r>
            <a:endParaRPr sz="1100" b="0" i="0" u="none" strike="noStrike" cap="none">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4A555F"/>
              </a:buClr>
              <a:buSzPts val="1100"/>
              <a:buFont typeface="Arial"/>
              <a:buChar char="•"/>
            </a:pPr>
            <a:r>
              <a:rPr lang="en-US" sz="1100" b="0" i="0" u="none" strike="noStrike" cap="none">
                <a:solidFill>
                  <a:srgbClr val="4A555F"/>
                </a:solidFill>
                <a:latin typeface="Arial"/>
                <a:ea typeface="Arial"/>
                <a:cs typeface="Arial"/>
                <a:sym typeface="Arial"/>
              </a:rPr>
              <a:t>Plain language: short words, no jargon, no guilt.</a:t>
            </a:r>
            <a:endParaRPr sz="1100" b="0" i="0" u="none" strike="noStrike" cap="none">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4A555F"/>
              </a:buClr>
              <a:buSzPts val="1100"/>
              <a:buFont typeface="Arial"/>
              <a:buChar char="•"/>
            </a:pPr>
            <a:r>
              <a:rPr lang="en-US" sz="1100" b="0" i="0" u="none" strike="noStrike" cap="none">
                <a:solidFill>
                  <a:srgbClr val="4A555F"/>
                </a:solidFill>
                <a:latin typeface="Arial"/>
                <a:ea typeface="Arial"/>
                <a:cs typeface="Arial"/>
                <a:sym typeface="Arial"/>
              </a:rPr>
              <a:t>WCAG AA contrast minimum; must work well on older, smaller phones.</a:t>
            </a:r>
            <a:endParaRPr sz="1100" b="0" i="0" u="none" strike="noStrike" cap="none">
              <a:solidFill>
                <a:schemeClr val="dk1"/>
              </a:solidFill>
              <a:latin typeface="Calibri"/>
              <a:ea typeface="Calibri"/>
              <a:cs typeface="Calibri"/>
              <a:sym typeface="Calibri"/>
            </a:endParaRPr>
          </a:p>
        </p:txBody>
      </p:sp>
      <p:pic>
        <p:nvPicPr>
          <p:cNvPr id="114" name="Google Shape;114;p6" descr="enablis-charcoal.png"/>
          <p:cNvPicPr preferRelativeResize="0"/>
          <p:nvPr/>
        </p:nvPicPr>
        <p:blipFill rotWithShape="1">
          <a:blip r:embed="rId5">
            <a:alphaModFix/>
          </a:blip>
          <a:srcRect/>
          <a:stretch/>
        </p:blipFill>
        <p:spPr>
          <a:xfrm>
            <a:off x="10195560" y="420624"/>
            <a:ext cx="1280160" cy="289068"/>
          </a:xfrm>
          <a:prstGeom prst="rect">
            <a:avLst/>
          </a:prstGeom>
          <a:noFill/>
          <a:ln>
            <a:noFill/>
          </a:ln>
        </p:spPr>
      </p:pic>
      <p:sp>
        <p:nvSpPr>
          <p:cNvPr id="115" name="Google Shape;115;p6"/>
          <p:cNvSpPr txBox="1"/>
          <p:nvPr/>
        </p:nvSpPr>
        <p:spPr>
          <a:xfrm>
            <a:off x="6400800" y="6473952"/>
            <a:ext cx="5074920" cy="25603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900" b="0" i="0" u="none" strike="noStrike" cap="none">
                <a:solidFill>
                  <a:srgbClr val="9AA0A6"/>
                </a:solidFill>
                <a:latin typeface="Arial"/>
                <a:ea typeface="Arial"/>
                <a:cs typeface="Arial"/>
                <a:sym typeface="Arial"/>
              </a:rPr>
              <a:t>© 2026 Enablis. All rights reserved.</a:t>
            </a:r>
            <a:endParaRPr/>
          </a:p>
        </p:txBody>
      </p:sp>
      <p:sp>
        <p:nvSpPr>
          <p:cNvPr id="116" name="Google Shape;116;p6"/>
          <p:cNvSpPr txBox="1"/>
          <p:nvPr/>
        </p:nvSpPr>
        <p:spPr>
          <a:xfrm>
            <a:off x="685800" y="6473952"/>
            <a:ext cx="10789800" cy="13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0" i="1" u="none" strike="noStrike" cap="none">
                <a:solidFill>
                  <a:srgbClr val="B7BFC0"/>
                </a:solidFill>
                <a:latin typeface="Arial"/>
                <a:ea typeface="Arial"/>
                <a:cs typeface="Arial"/>
                <a:sym typeface="Arial"/>
              </a:rPr>
              <a:t>Nosh is a fictional client created for the Enablis engineering challenge.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859</Words>
  <Application>Microsoft Office PowerPoint</Application>
  <PresentationFormat>Widescreen</PresentationFormat>
  <Paragraphs>80</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Calibri</vt:lpstr>
      <vt:lpstr>Arial</vt:lpstr>
      <vt:lpstr>Nunito</vt:lpstr>
      <vt:lpstr>Courier New</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Joel Pybus</dc:creator>
  <cp:lastModifiedBy>Joel Pybus</cp:lastModifiedBy>
  <cp:revision>1</cp:revision>
  <dcterms:modified xsi:type="dcterms:W3CDTF">2026-08-05T12:56:05Z</dcterms:modified>
</cp:coreProperties>
</file>